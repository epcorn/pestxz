
<file path=[Content_Types].xml><?xml version="1.0" encoding="utf-8"?>
<Types xmlns="http://schemas.openxmlformats.org/package/2006/content-types">
  <Default Extension="bin" ContentType="application/vnd.openxmlformats-officedocument.oleObject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8288000" cy="10287000"/>
  <p:notesSz cx="6858000" cy="9144000"/>
  <p:embeddedFontLst>
    <p:embeddedFont>
      <p:font typeface="Calibri (MS)" panose="020B0604020202020204" charset="0"/>
      <p:regular r:id="rId17"/>
    </p:embeddedFont>
    <p:embeddedFont>
      <p:font typeface="Calibri (MS) Bold" panose="020B0604020202020204" charset="0"/>
      <p:regular r:id="rId18"/>
    </p:embeddedFont>
    <p:embeddedFont>
      <p:font typeface="Canva Sans" panose="020B0604020202020204" charset="0"/>
      <p:regular r:id="rId19"/>
    </p:embeddedFont>
    <p:embeddedFont>
      <p:font typeface="Canva Sans Bold" panose="020B0604020202020204" charset="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D935CCB-463C-457E-9E67-EA440695B115}" v="3" dt="2026-08-26T07:16:22.02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32" d="100"/>
          <a:sy n="32" d="100"/>
        </p:scale>
        <p:origin x="53" y="70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yur@epcorn.com" userId="8d857f4fd2d1f3c9" providerId="LiveId" clId="{4D9048F2-F110-4217-BA19-6873865FC429}"/>
    <pc:docChg chg="undo custSel modSld">
      <pc:chgData name="mayur@epcorn.com" userId="8d857f4fd2d1f3c9" providerId="LiveId" clId="{4D9048F2-F110-4217-BA19-6873865FC429}" dt="2026-08-26T10:04:43.130" v="340" actId="20577"/>
      <pc:docMkLst>
        <pc:docMk/>
      </pc:docMkLst>
      <pc:sldChg chg="modSp mod">
        <pc:chgData name="mayur@epcorn.com" userId="8d857f4fd2d1f3c9" providerId="LiveId" clId="{4D9048F2-F110-4217-BA19-6873865FC429}" dt="2026-08-26T10:04:43.130" v="340" actId="20577"/>
        <pc:sldMkLst>
          <pc:docMk/>
          <pc:sldMk cId="0" sldId="256"/>
        </pc:sldMkLst>
        <pc:spChg chg="mod">
          <ac:chgData name="mayur@epcorn.com" userId="8d857f4fd2d1f3c9" providerId="LiveId" clId="{4D9048F2-F110-4217-BA19-6873865FC429}" dt="2026-08-26T10:04:43.130" v="340" actId="20577"/>
          <ac:spMkLst>
            <pc:docMk/>
            <pc:sldMk cId="0" sldId="256"/>
            <ac:spMk id="2" creationId="{00000000-0000-0000-0000-000000000000}"/>
          </ac:spMkLst>
        </pc:spChg>
      </pc:sldChg>
      <pc:sldChg chg="addSp delSp modSp mod">
        <pc:chgData name="mayur@epcorn.com" userId="8d857f4fd2d1f3c9" providerId="LiveId" clId="{4D9048F2-F110-4217-BA19-6873865FC429}" dt="2026-08-26T08:02:22.717" v="250" actId="1076"/>
        <pc:sldMkLst>
          <pc:docMk/>
          <pc:sldMk cId="0" sldId="257"/>
        </pc:sldMkLst>
        <pc:spChg chg="mod">
          <ac:chgData name="mayur@epcorn.com" userId="8d857f4fd2d1f3c9" providerId="LiveId" clId="{4D9048F2-F110-4217-BA19-6873865FC429}" dt="2026-08-25T11:06:34.910" v="105" actId="20577"/>
          <ac:spMkLst>
            <pc:docMk/>
            <pc:sldMk cId="0" sldId="257"/>
            <ac:spMk id="2" creationId="{00000000-0000-0000-0000-000000000000}"/>
          </ac:spMkLst>
        </pc:spChg>
        <pc:spChg chg="mod">
          <ac:chgData name="mayur@epcorn.com" userId="8d857f4fd2d1f3c9" providerId="LiveId" clId="{4D9048F2-F110-4217-BA19-6873865FC429}" dt="2026-08-25T08:06:30.505" v="46" actId="14100"/>
          <ac:spMkLst>
            <pc:docMk/>
            <pc:sldMk cId="0" sldId="257"/>
            <ac:spMk id="4" creationId="{00000000-0000-0000-0000-000000000000}"/>
          </ac:spMkLst>
        </pc:spChg>
        <pc:spChg chg="mod">
          <ac:chgData name="mayur@epcorn.com" userId="8d857f4fd2d1f3c9" providerId="LiveId" clId="{4D9048F2-F110-4217-BA19-6873865FC429}" dt="2026-08-25T08:06:22.577" v="45" actId="14100"/>
          <ac:spMkLst>
            <pc:docMk/>
            <pc:sldMk cId="0" sldId="257"/>
            <ac:spMk id="5" creationId="{00000000-0000-0000-0000-000000000000}"/>
          </ac:spMkLst>
        </pc:spChg>
        <pc:spChg chg="mod">
          <ac:chgData name="mayur@epcorn.com" userId="8d857f4fd2d1f3c9" providerId="LiveId" clId="{4D9048F2-F110-4217-BA19-6873865FC429}" dt="2026-08-25T08:06:44.548" v="48" actId="1076"/>
          <ac:spMkLst>
            <pc:docMk/>
            <pc:sldMk cId="0" sldId="257"/>
            <ac:spMk id="6" creationId="{00000000-0000-0000-0000-000000000000}"/>
          </ac:spMkLst>
        </pc:spChg>
        <pc:spChg chg="add mod">
          <ac:chgData name="mayur@epcorn.com" userId="8d857f4fd2d1f3c9" providerId="LiveId" clId="{4D9048F2-F110-4217-BA19-6873865FC429}" dt="2026-08-26T07:23:21.181" v="249" actId="1076"/>
          <ac:spMkLst>
            <pc:docMk/>
            <pc:sldMk cId="0" sldId="257"/>
            <ac:spMk id="7" creationId="{90EDB2C0-6E21-DADB-218C-4E1CC3899669}"/>
          </ac:spMkLst>
        </pc:spChg>
        <pc:spChg chg="add del mod">
          <ac:chgData name="mayur@epcorn.com" userId="8d857f4fd2d1f3c9" providerId="LiveId" clId="{4D9048F2-F110-4217-BA19-6873865FC429}" dt="2026-08-26T07:14:58.972" v="184" actId="478"/>
          <ac:spMkLst>
            <pc:docMk/>
            <pc:sldMk cId="0" sldId="257"/>
            <ac:spMk id="9" creationId="{5C453862-95EA-10B2-7A68-C601CB8CD8FC}"/>
          </ac:spMkLst>
        </pc:spChg>
        <pc:spChg chg="add mod">
          <ac:chgData name="mayur@epcorn.com" userId="8d857f4fd2d1f3c9" providerId="LiveId" clId="{4D9048F2-F110-4217-BA19-6873865FC429}" dt="2026-08-26T08:02:22.717" v="250" actId="1076"/>
          <ac:spMkLst>
            <pc:docMk/>
            <pc:sldMk cId="0" sldId="257"/>
            <ac:spMk id="10" creationId="{78BB24B0-335D-F5A3-AB70-86DBAECBBE94}"/>
          </ac:spMkLst>
        </pc:spChg>
        <pc:spChg chg="add del mod">
          <ac:chgData name="mayur@epcorn.com" userId="8d857f4fd2d1f3c9" providerId="LiveId" clId="{4D9048F2-F110-4217-BA19-6873865FC429}" dt="2026-08-26T07:14:58.972" v="184" actId="478"/>
          <ac:spMkLst>
            <pc:docMk/>
            <pc:sldMk cId="0" sldId="257"/>
            <ac:spMk id="11" creationId="{42CFA54E-70DB-A6AB-ECE6-E7E791B7E386}"/>
          </ac:spMkLst>
        </pc:spChg>
        <pc:spChg chg="add del mod">
          <ac:chgData name="mayur@epcorn.com" userId="8d857f4fd2d1f3c9" providerId="LiveId" clId="{4D9048F2-F110-4217-BA19-6873865FC429}" dt="2026-08-26T07:14:58.972" v="184" actId="478"/>
          <ac:spMkLst>
            <pc:docMk/>
            <pc:sldMk cId="0" sldId="257"/>
            <ac:spMk id="13" creationId="{9028FEC1-5B9D-129B-4467-B0CFF2C2A430}"/>
          </ac:spMkLst>
        </pc:spChg>
        <pc:spChg chg="add mod">
          <ac:chgData name="mayur@epcorn.com" userId="8d857f4fd2d1f3c9" providerId="LiveId" clId="{4D9048F2-F110-4217-BA19-6873865FC429}" dt="2026-08-26T07:17:36.195" v="247" actId="20577"/>
          <ac:spMkLst>
            <pc:docMk/>
            <pc:sldMk cId="0" sldId="257"/>
            <ac:spMk id="14" creationId="{37216BCA-7601-D43D-F480-8AEF89CC3095}"/>
          </ac:spMkLst>
        </pc:spChg>
        <pc:spChg chg="add mod">
          <ac:chgData name="mayur@epcorn.com" userId="8d857f4fd2d1f3c9" providerId="LiveId" clId="{4D9048F2-F110-4217-BA19-6873865FC429}" dt="2026-08-26T07:17:38.714" v="248" actId="20577"/>
          <ac:spMkLst>
            <pc:docMk/>
            <pc:sldMk cId="0" sldId="257"/>
            <ac:spMk id="16" creationId="{D2CC434E-2CD1-0987-0899-61E735EEFAAE}"/>
          </ac:spMkLst>
        </pc:spChg>
      </pc:sldChg>
      <pc:sldChg chg="modSp mod">
        <pc:chgData name="mayur@epcorn.com" userId="8d857f4fd2d1f3c9" providerId="LiveId" clId="{4D9048F2-F110-4217-BA19-6873865FC429}" dt="2026-08-25T10:50:06.072" v="74" actId="20577"/>
        <pc:sldMkLst>
          <pc:docMk/>
          <pc:sldMk cId="0" sldId="258"/>
        </pc:sldMkLst>
        <pc:spChg chg="mod">
          <ac:chgData name="mayur@epcorn.com" userId="8d857f4fd2d1f3c9" providerId="LiveId" clId="{4D9048F2-F110-4217-BA19-6873865FC429}" dt="2026-08-25T10:50:06.072" v="74" actId="20577"/>
          <ac:spMkLst>
            <pc:docMk/>
            <pc:sldMk cId="0" sldId="258"/>
            <ac:spMk id="2" creationId="{00000000-0000-0000-0000-000000000000}"/>
          </ac:spMkLst>
        </pc:spChg>
        <pc:spChg chg="mod">
          <ac:chgData name="mayur@epcorn.com" userId="8d857f4fd2d1f3c9" providerId="LiveId" clId="{4D9048F2-F110-4217-BA19-6873865FC429}" dt="2026-08-25T08:07:40.339" v="55" actId="1076"/>
          <ac:spMkLst>
            <pc:docMk/>
            <pc:sldMk cId="0" sldId="258"/>
            <ac:spMk id="3" creationId="{00000000-0000-0000-0000-000000000000}"/>
          </ac:spMkLst>
        </pc:spChg>
        <pc:spChg chg="mod">
          <ac:chgData name="mayur@epcorn.com" userId="8d857f4fd2d1f3c9" providerId="LiveId" clId="{4D9048F2-F110-4217-BA19-6873865FC429}" dt="2026-08-25T08:07:25.980" v="53" actId="1076"/>
          <ac:spMkLst>
            <pc:docMk/>
            <pc:sldMk cId="0" sldId="258"/>
            <ac:spMk id="4" creationId="{00000000-0000-0000-0000-000000000000}"/>
          </ac:spMkLst>
        </pc:spChg>
      </pc:sldChg>
      <pc:sldChg chg="addSp delSp modSp mod">
        <pc:chgData name="mayur@epcorn.com" userId="8d857f4fd2d1f3c9" providerId="LiveId" clId="{4D9048F2-F110-4217-BA19-6873865FC429}" dt="2026-08-26T09:16:06.435" v="273" actId="478"/>
        <pc:sldMkLst>
          <pc:docMk/>
          <pc:sldMk cId="0" sldId="259"/>
        </pc:sldMkLst>
        <pc:spChg chg="mod">
          <ac:chgData name="mayur@epcorn.com" userId="8d857f4fd2d1f3c9" providerId="LiveId" clId="{4D9048F2-F110-4217-BA19-6873865FC429}" dt="2026-08-25T10:50:46.876" v="75" actId="20577"/>
          <ac:spMkLst>
            <pc:docMk/>
            <pc:sldMk cId="0" sldId="259"/>
            <ac:spMk id="2" creationId="{00000000-0000-0000-0000-000000000000}"/>
          </ac:spMkLst>
        </pc:spChg>
        <pc:spChg chg="mod">
          <ac:chgData name="mayur@epcorn.com" userId="8d857f4fd2d1f3c9" providerId="LiveId" clId="{4D9048F2-F110-4217-BA19-6873865FC429}" dt="2026-08-25T08:07:49.502" v="56" actId="14100"/>
          <ac:spMkLst>
            <pc:docMk/>
            <pc:sldMk cId="0" sldId="259"/>
            <ac:spMk id="3" creationId="{00000000-0000-0000-0000-000000000000}"/>
          </ac:spMkLst>
        </pc:spChg>
        <pc:spChg chg="mod">
          <ac:chgData name="mayur@epcorn.com" userId="8d857f4fd2d1f3c9" providerId="LiveId" clId="{4D9048F2-F110-4217-BA19-6873865FC429}" dt="2026-08-25T08:07:54.230" v="57" actId="14100"/>
          <ac:spMkLst>
            <pc:docMk/>
            <pc:sldMk cId="0" sldId="259"/>
            <ac:spMk id="4" creationId="{00000000-0000-0000-0000-000000000000}"/>
          </ac:spMkLst>
        </pc:spChg>
        <pc:spChg chg="mod">
          <ac:chgData name="mayur@epcorn.com" userId="8d857f4fd2d1f3c9" providerId="LiveId" clId="{4D9048F2-F110-4217-BA19-6873865FC429}" dt="2026-08-25T08:08:07.241" v="59" actId="1076"/>
          <ac:spMkLst>
            <pc:docMk/>
            <pc:sldMk cId="0" sldId="259"/>
            <ac:spMk id="5" creationId="{00000000-0000-0000-0000-000000000000}"/>
          </ac:spMkLst>
        </pc:spChg>
        <pc:spChg chg="add del mod">
          <ac:chgData name="mayur@epcorn.com" userId="8d857f4fd2d1f3c9" providerId="LiveId" clId="{4D9048F2-F110-4217-BA19-6873865FC429}" dt="2026-08-26T09:15:57.974" v="269" actId="478"/>
          <ac:spMkLst>
            <pc:docMk/>
            <pc:sldMk cId="0" sldId="259"/>
            <ac:spMk id="6" creationId="{60E856ED-0A17-F212-6AB7-82149FAB4E79}"/>
          </ac:spMkLst>
        </pc:spChg>
        <pc:spChg chg="add del mod">
          <ac:chgData name="mayur@epcorn.com" userId="8d857f4fd2d1f3c9" providerId="LiveId" clId="{4D9048F2-F110-4217-BA19-6873865FC429}" dt="2026-08-26T09:15:56.176" v="268" actId="478"/>
          <ac:spMkLst>
            <pc:docMk/>
            <pc:sldMk cId="0" sldId="259"/>
            <ac:spMk id="11" creationId="{B708D3A7-BF0B-0DCF-EB17-326A9712FD63}"/>
          </ac:spMkLst>
        </pc:spChg>
        <pc:spChg chg="add del mod">
          <ac:chgData name="mayur@epcorn.com" userId="8d857f4fd2d1f3c9" providerId="LiveId" clId="{4D9048F2-F110-4217-BA19-6873865FC429}" dt="2026-08-26T09:16:06.435" v="273" actId="478"/>
          <ac:spMkLst>
            <pc:docMk/>
            <pc:sldMk cId="0" sldId="259"/>
            <ac:spMk id="13" creationId="{202CAC2E-68C0-B378-A9CB-3B426CCB58BE}"/>
          </ac:spMkLst>
        </pc:spChg>
        <pc:spChg chg="add del mod">
          <ac:chgData name="mayur@epcorn.com" userId="8d857f4fd2d1f3c9" providerId="LiveId" clId="{4D9048F2-F110-4217-BA19-6873865FC429}" dt="2026-08-26T09:15:59.975" v="270" actId="478"/>
          <ac:spMkLst>
            <pc:docMk/>
            <pc:sldMk cId="0" sldId="259"/>
            <ac:spMk id="15" creationId="{2E33B8B2-3CAD-22A2-76AF-F25B3A5422B2}"/>
          </ac:spMkLst>
        </pc:spChg>
        <pc:spChg chg="add del mod">
          <ac:chgData name="mayur@epcorn.com" userId="8d857f4fd2d1f3c9" providerId="LiveId" clId="{4D9048F2-F110-4217-BA19-6873865FC429}" dt="2026-08-26T09:16:01.307" v="271" actId="478"/>
          <ac:spMkLst>
            <pc:docMk/>
            <pc:sldMk cId="0" sldId="259"/>
            <ac:spMk id="17" creationId="{53E8C3B2-64AC-C8AF-CFBD-1AF9A65974AE}"/>
          </ac:spMkLst>
        </pc:spChg>
        <pc:spChg chg="add del mod">
          <ac:chgData name="mayur@epcorn.com" userId="8d857f4fd2d1f3c9" providerId="LiveId" clId="{4D9048F2-F110-4217-BA19-6873865FC429}" dt="2026-08-26T09:16:02.239" v="272" actId="478"/>
          <ac:spMkLst>
            <pc:docMk/>
            <pc:sldMk cId="0" sldId="259"/>
            <ac:spMk id="19" creationId="{9AC708D9-52DD-E170-4107-E10F064D0BB8}"/>
          </ac:spMkLst>
        </pc:spChg>
        <pc:cxnChg chg="add mod">
          <ac:chgData name="mayur@epcorn.com" userId="8d857f4fd2d1f3c9" providerId="LiveId" clId="{4D9048F2-F110-4217-BA19-6873865FC429}" dt="2026-08-25T10:52:51.590" v="88" actId="1076"/>
          <ac:cxnSpMkLst>
            <pc:docMk/>
            <pc:sldMk cId="0" sldId="259"/>
            <ac:cxnSpMk id="8" creationId="{C4BE69A8-FB0D-2425-4C44-F4B81D3AE47A}"/>
          </ac:cxnSpMkLst>
        </pc:cxnChg>
      </pc:sldChg>
      <pc:sldChg chg="modSp mod">
        <pc:chgData name="mayur@epcorn.com" userId="8d857f4fd2d1f3c9" providerId="LiveId" clId="{4D9048F2-F110-4217-BA19-6873865FC429}" dt="2026-08-25T10:58:40.186" v="104" actId="20577"/>
        <pc:sldMkLst>
          <pc:docMk/>
          <pc:sldMk cId="0" sldId="260"/>
        </pc:sldMkLst>
        <pc:spChg chg="mod">
          <ac:chgData name="mayur@epcorn.com" userId="8d857f4fd2d1f3c9" providerId="LiveId" clId="{4D9048F2-F110-4217-BA19-6873865FC429}" dt="2026-08-25T10:58:40.186" v="104" actId="20577"/>
          <ac:spMkLst>
            <pc:docMk/>
            <pc:sldMk cId="0" sldId="260"/>
            <ac:spMk id="2" creationId="{00000000-0000-0000-0000-000000000000}"/>
          </ac:spMkLst>
        </pc:spChg>
        <pc:spChg chg="mod">
          <ac:chgData name="mayur@epcorn.com" userId="8d857f4fd2d1f3c9" providerId="LiveId" clId="{4D9048F2-F110-4217-BA19-6873865FC429}" dt="2026-08-25T08:08:21.993" v="61" actId="14100"/>
          <ac:spMkLst>
            <pc:docMk/>
            <pc:sldMk cId="0" sldId="260"/>
            <ac:spMk id="3" creationId="{00000000-0000-0000-0000-000000000000}"/>
          </ac:spMkLst>
        </pc:spChg>
        <pc:spChg chg="mod">
          <ac:chgData name="mayur@epcorn.com" userId="8d857f4fd2d1f3c9" providerId="LiveId" clId="{4D9048F2-F110-4217-BA19-6873865FC429}" dt="2026-08-25T08:08:28.252" v="62" actId="14100"/>
          <ac:spMkLst>
            <pc:docMk/>
            <pc:sldMk cId="0" sldId="260"/>
            <ac:spMk id="4" creationId="{00000000-0000-0000-0000-000000000000}"/>
          </ac:spMkLst>
        </pc:spChg>
      </pc:sldChg>
      <pc:sldChg chg="modSp mod">
        <pc:chgData name="mayur@epcorn.com" userId="8d857f4fd2d1f3c9" providerId="LiveId" clId="{4D9048F2-F110-4217-BA19-6873865FC429}" dt="2026-08-25T08:08:47.837" v="65" actId="14100"/>
        <pc:sldMkLst>
          <pc:docMk/>
          <pc:sldMk cId="0" sldId="261"/>
        </pc:sldMkLst>
        <pc:spChg chg="mod">
          <ac:chgData name="mayur@epcorn.com" userId="8d857f4fd2d1f3c9" providerId="LiveId" clId="{4D9048F2-F110-4217-BA19-6873865FC429}" dt="2026-08-25T08:08:41.811" v="64" actId="14100"/>
          <ac:spMkLst>
            <pc:docMk/>
            <pc:sldMk cId="0" sldId="261"/>
            <ac:spMk id="2" creationId="{00000000-0000-0000-0000-000000000000}"/>
          </ac:spMkLst>
        </pc:spChg>
        <pc:spChg chg="mod">
          <ac:chgData name="mayur@epcorn.com" userId="8d857f4fd2d1f3c9" providerId="LiveId" clId="{4D9048F2-F110-4217-BA19-6873865FC429}" dt="2026-08-25T08:08:47.837" v="65" actId="14100"/>
          <ac:spMkLst>
            <pc:docMk/>
            <pc:sldMk cId="0" sldId="261"/>
            <ac:spMk id="3" creationId="{00000000-0000-0000-0000-000000000000}"/>
          </ac:spMkLst>
        </pc:spChg>
      </pc:sldChg>
      <pc:sldChg chg="modSp mod">
        <pc:chgData name="mayur@epcorn.com" userId="8d857f4fd2d1f3c9" providerId="LiveId" clId="{4D9048F2-F110-4217-BA19-6873865FC429}" dt="2026-08-25T08:09:37.280" v="73" actId="1076"/>
        <pc:sldMkLst>
          <pc:docMk/>
          <pc:sldMk cId="0" sldId="262"/>
        </pc:sldMkLst>
        <pc:spChg chg="mod">
          <ac:chgData name="mayur@epcorn.com" userId="8d857f4fd2d1f3c9" providerId="LiveId" clId="{4D9048F2-F110-4217-BA19-6873865FC429}" dt="2026-08-25T08:09:37.280" v="73" actId="1076"/>
          <ac:spMkLst>
            <pc:docMk/>
            <pc:sldMk cId="0" sldId="262"/>
            <ac:spMk id="2" creationId="{00000000-0000-0000-0000-000000000000}"/>
          </ac:spMkLst>
        </pc:spChg>
        <pc:spChg chg="mod">
          <ac:chgData name="mayur@epcorn.com" userId="8d857f4fd2d1f3c9" providerId="LiveId" clId="{4D9048F2-F110-4217-BA19-6873865FC429}" dt="2026-08-25T08:08:59.543" v="66" actId="14100"/>
          <ac:spMkLst>
            <pc:docMk/>
            <pc:sldMk cId="0" sldId="262"/>
            <ac:spMk id="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oogle.com/spreadsheets/d/1f-UZPGKOIe7lPTYhRb27l8pY9brpmhZRsVEX2GFgcig/edit?usp=sharing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jpeg"/><Relationship Id="rId3" Type="http://schemas.openxmlformats.org/officeDocument/2006/relationships/image" Target="../media/image9.jpeg"/><Relationship Id="rId7" Type="http://schemas.openxmlformats.org/officeDocument/2006/relationships/image" Target="../media/image13.jpeg"/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10.svg"/><Relationship Id="rId9" Type="http://schemas.openxmlformats.org/officeDocument/2006/relationships/image" Target="../media/image15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jpeg"/><Relationship Id="rId13" Type="http://schemas.openxmlformats.org/officeDocument/2006/relationships/image" Target="../media/image31.png"/><Relationship Id="rId18" Type="http://schemas.openxmlformats.org/officeDocument/2006/relationships/image" Target="../media/image36.png"/><Relationship Id="rId26" Type="http://schemas.openxmlformats.org/officeDocument/2006/relationships/image" Target="../media/image44.png"/><Relationship Id="rId3" Type="http://schemas.openxmlformats.org/officeDocument/2006/relationships/image" Target="../media/image21.png"/><Relationship Id="rId21" Type="http://schemas.openxmlformats.org/officeDocument/2006/relationships/image" Target="../media/image39.png"/><Relationship Id="rId7" Type="http://schemas.openxmlformats.org/officeDocument/2006/relationships/image" Target="../media/image25.png"/><Relationship Id="rId12" Type="http://schemas.openxmlformats.org/officeDocument/2006/relationships/image" Target="../media/image30.jpeg"/><Relationship Id="rId17" Type="http://schemas.openxmlformats.org/officeDocument/2006/relationships/image" Target="../media/image35.png"/><Relationship Id="rId25" Type="http://schemas.openxmlformats.org/officeDocument/2006/relationships/image" Target="../media/image43.png"/><Relationship Id="rId2" Type="http://schemas.openxmlformats.org/officeDocument/2006/relationships/image" Target="../media/image20.jpeg"/><Relationship Id="rId16" Type="http://schemas.openxmlformats.org/officeDocument/2006/relationships/image" Target="../media/image34.jpeg"/><Relationship Id="rId20" Type="http://schemas.openxmlformats.org/officeDocument/2006/relationships/image" Target="../media/image3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jpeg"/><Relationship Id="rId11" Type="http://schemas.openxmlformats.org/officeDocument/2006/relationships/image" Target="../media/image29.jpeg"/><Relationship Id="rId24" Type="http://schemas.openxmlformats.org/officeDocument/2006/relationships/image" Target="../media/image42.jpeg"/><Relationship Id="rId5" Type="http://schemas.openxmlformats.org/officeDocument/2006/relationships/image" Target="../media/image23.jpeg"/><Relationship Id="rId15" Type="http://schemas.openxmlformats.org/officeDocument/2006/relationships/image" Target="../media/image33.jpeg"/><Relationship Id="rId23" Type="http://schemas.openxmlformats.org/officeDocument/2006/relationships/image" Target="../media/image41.jpeg"/><Relationship Id="rId10" Type="http://schemas.openxmlformats.org/officeDocument/2006/relationships/image" Target="../media/image28.jpeg"/><Relationship Id="rId19" Type="http://schemas.openxmlformats.org/officeDocument/2006/relationships/image" Target="../media/image37.jpeg"/><Relationship Id="rId4" Type="http://schemas.openxmlformats.org/officeDocument/2006/relationships/image" Target="../media/image22.png"/><Relationship Id="rId9" Type="http://schemas.openxmlformats.org/officeDocument/2006/relationships/image" Target="../media/image27.png"/><Relationship Id="rId14" Type="http://schemas.openxmlformats.org/officeDocument/2006/relationships/image" Target="../media/image32.png"/><Relationship Id="rId22" Type="http://schemas.openxmlformats.org/officeDocument/2006/relationships/image" Target="../media/image40.jpeg"/><Relationship Id="rId27" Type="http://schemas.openxmlformats.org/officeDocument/2006/relationships/image" Target="../media/image45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Relationship Id="rId6" Type="http://schemas.openxmlformats.org/officeDocument/2006/relationships/hyperlink" Target="mailto:epcorn@yahoo.in" TargetMode="External"/><Relationship Id="rId5" Type="http://schemas.openxmlformats.org/officeDocument/2006/relationships/image" Target="../media/image48.png"/><Relationship Id="rId4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90661" y="6234217"/>
            <a:ext cx="9796875" cy="34713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11"/>
              </a:lnSpc>
              <a:spcBef>
                <a:spcPct val="0"/>
              </a:spcBef>
            </a:pPr>
            <a:r>
              <a:rPr lang="en-US" sz="3294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Client Name: M/s. St Telemedia Global Data Centres</a:t>
            </a:r>
          </a:p>
          <a:p>
            <a:pPr algn="l">
              <a:lnSpc>
                <a:spcPts val="4611"/>
              </a:lnSpc>
              <a:spcBef>
                <a:spcPct val="0"/>
              </a:spcBef>
            </a:pPr>
            <a:r>
              <a:rPr lang="en-US" sz="3294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Meet at site: 	anjali</a:t>
            </a:r>
          </a:p>
          <a:p>
            <a:pPr algn="l">
              <a:lnSpc>
                <a:spcPts val="4611"/>
              </a:lnSpc>
              <a:spcBef>
                <a:spcPct val="0"/>
              </a:spcBef>
            </a:pPr>
            <a:r>
              <a:rPr lang="en-US" sz="3294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Site Category: restaurant</a:t>
            </a:r>
          </a:p>
          <a:p>
            <a:pPr algn="l">
              <a:lnSpc>
                <a:spcPts val="4611"/>
              </a:lnSpc>
              <a:spcBef>
                <a:spcPct val="0"/>
              </a:spcBef>
            </a:pPr>
            <a:r>
              <a:rPr lang="en-US" sz="3294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Site Address: efrgt</a:t>
            </a:r>
          </a:p>
          <a:p>
            <a:pPr algn="l">
              <a:lnSpc>
                <a:spcPts val="4611"/>
              </a:lnSpc>
              <a:spcBef>
                <a:spcPct val="0"/>
              </a:spcBef>
            </a:pPr>
            <a:r>
              <a:rPr lang="en-US" sz="3294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Inspection Date: 26 Aug 2026, 04:40 pm</a:t>
            </a:r>
          </a:p>
          <a:p>
            <a:pPr algn="l">
              <a:lnSpc>
                <a:spcPts val="4611"/>
              </a:lnSpc>
              <a:spcBef>
                <a:spcPct val="0"/>
              </a:spcBef>
            </a:pPr>
            <a:r>
              <a:rPr lang="en-US" sz="3294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Inspected By</a:t>
            </a:r>
            <a:r>
              <a:rPr lang="en-US" sz="329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: Rohini</a:t>
            </a:r>
            <a:endParaRPr lang="en-US" sz="3294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1370430" y="4370879"/>
            <a:ext cx="16390289" cy="14690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919"/>
              </a:lnSpc>
              <a:spcBef>
                <a:spcPct val="0"/>
              </a:spcBef>
            </a:pPr>
            <a:r>
              <a:rPr lang="en-US" sz="4227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Consolidated Audit Findings &amp; Root Cause Analysis Report</a:t>
            </a:r>
          </a:p>
          <a:p>
            <a:pPr algn="l">
              <a:lnSpc>
                <a:spcPts val="5919"/>
              </a:lnSpc>
              <a:spcBef>
                <a:spcPct val="0"/>
              </a:spcBef>
            </a:pPr>
            <a:endParaRPr lang="en-US" sz="4227" b="1" dirty="0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4" name="Freeform 4"/>
          <p:cNvSpPr/>
          <p:nvPr/>
        </p:nvSpPr>
        <p:spPr>
          <a:xfrm>
            <a:off x="2782913" y="-2654"/>
            <a:ext cx="12722174" cy="3360627"/>
          </a:xfrm>
          <a:custGeom>
            <a:avLst/>
            <a:gdLst/>
            <a:ahLst/>
            <a:cxnLst/>
            <a:rect l="l" t="t" r="r" b="b"/>
            <a:pathLst>
              <a:path w="12722174" h="3360627">
                <a:moveTo>
                  <a:pt x="0" y="0"/>
                </a:moveTo>
                <a:lnTo>
                  <a:pt x="12722174" y="0"/>
                </a:lnTo>
                <a:lnTo>
                  <a:pt x="12722174" y="3360626"/>
                </a:lnTo>
                <a:lnTo>
                  <a:pt x="0" y="336062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634" t="-208901" r="-7512" b="-178858"/>
            </a:stretch>
          </a:blipFill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2505" y="2221023"/>
            <a:ext cx="17962989" cy="2245374"/>
          </a:xfrm>
          <a:custGeom>
            <a:avLst/>
            <a:gdLst/>
            <a:ahLst/>
            <a:cxnLst/>
            <a:rect l="l" t="t" r="r" b="b"/>
            <a:pathLst>
              <a:path w="17962989" h="2245374">
                <a:moveTo>
                  <a:pt x="0" y="0"/>
                </a:moveTo>
                <a:lnTo>
                  <a:pt x="17962990" y="0"/>
                </a:lnTo>
                <a:lnTo>
                  <a:pt x="17962990" y="2245373"/>
                </a:lnTo>
                <a:lnTo>
                  <a:pt x="0" y="224537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3" name="TextBox 3"/>
          <p:cNvSpPr txBox="1"/>
          <p:nvPr/>
        </p:nvSpPr>
        <p:spPr>
          <a:xfrm>
            <a:off x="309810" y="5817210"/>
            <a:ext cx="17668380" cy="44697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44931" lvl="1" indent="-272466" algn="l">
              <a:lnSpc>
                <a:spcPts val="3533"/>
              </a:lnSpc>
              <a:buFont typeface="Arial"/>
              <a:buChar char="•"/>
            </a:pPr>
            <a:r>
              <a:rPr lang="en-US" sz="2523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Live cockroaches were found in the meat room and cockroach egg cases were found in the banquet store room.</a:t>
            </a:r>
          </a:p>
          <a:p>
            <a:pPr marL="544931" lvl="1" indent="-272466" algn="l">
              <a:lnSpc>
                <a:spcPts val="3533"/>
              </a:lnSpc>
              <a:buFont typeface="Arial"/>
              <a:buChar char="•"/>
            </a:pPr>
            <a:r>
              <a:rPr lang="en-US" sz="2523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Flies were observed in the kitchen/restaurant areas; dead pests and pests in cockroach traps were also recorded.</a:t>
            </a:r>
          </a:p>
          <a:p>
            <a:pPr marL="544931" lvl="1" indent="-272466" algn="l">
              <a:lnSpc>
                <a:spcPts val="3533"/>
              </a:lnSpc>
              <a:buFont typeface="Arial"/>
              <a:buChar char="•"/>
            </a:pPr>
            <a:r>
              <a:rPr lang="en-US" sz="2523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Multiple gaps/cracks were identified inside staff canteen shelves, bar shelves, barista shelves, the barista dustbin cabinet and restaurant service areas.</a:t>
            </a:r>
          </a:p>
          <a:p>
            <a:pPr marL="544931" lvl="1" indent="-272466" algn="l">
              <a:lnSpc>
                <a:spcPts val="3533"/>
              </a:lnSpc>
              <a:buFont typeface="Arial"/>
              <a:buChar char="•"/>
            </a:pPr>
            <a:r>
              <a:rPr lang="en-US" sz="2523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Grease, food debris, dirty floor corners, cardboard storage, dirty drains and standing water were identified as conditions requiring corrective action.</a:t>
            </a:r>
          </a:p>
          <a:p>
            <a:pPr marL="544931" lvl="1" indent="-272466" algn="l">
              <a:lnSpc>
                <a:spcPts val="3533"/>
              </a:lnSpc>
              <a:buFont typeface="Arial"/>
              <a:buChar char="•"/>
            </a:pPr>
            <a:r>
              <a:rPr lang="en-US" sz="2523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 audit indicates that pest-management measures are in place, but environmental conditions need stronger control to reduce recurring pest pressure.</a:t>
            </a:r>
          </a:p>
          <a:p>
            <a:pPr algn="l">
              <a:lnSpc>
                <a:spcPts val="3533"/>
              </a:lnSpc>
            </a:pPr>
            <a:endParaRPr lang="en-US" sz="2523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537564" y="1200826"/>
            <a:ext cx="15912235" cy="8254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39"/>
              </a:lnSpc>
              <a:spcBef>
                <a:spcPct val="0"/>
              </a:spcBef>
            </a:pPr>
            <a:r>
              <a:rPr lang="en-US" sz="2385" b="1" dirty="0">
                <a:solidFill>
                  <a:srgbClr val="000000">
                    <a:alpha val="60000"/>
                  </a:srgbClr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Key findings from the submitted audit matrix</a:t>
            </a:r>
          </a:p>
          <a:p>
            <a:pPr algn="ctr">
              <a:lnSpc>
                <a:spcPts val="3339"/>
              </a:lnSpc>
              <a:spcBef>
                <a:spcPct val="0"/>
              </a:spcBef>
            </a:pPr>
            <a:endParaRPr lang="en-US" sz="2385" b="1" dirty="0">
              <a:solidFill>
                <a:srgbClr val="000000">
                  <a:alpha val="60000"/>
                </a:srgbClr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294609" y="316939"/>
            <a:ext cx="17683581" cy="71176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919"/>
              </a:lnSpc>
              <a:spcBef>
                <a:spcPct val="0"/>
              </a:spcBef>
            </a:pPr>
            <a:r>
              <a:rPr lang="en-US" sz="4227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EXECUTIVE SUMMARY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048000" y="4884628"/>
            <a:ext cx="11454650" cy="5143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u="sng" dirty="0">
                <a:solidFill>
                  <a:srgbClr val="FF3131"/>
                </a:solidFill>
                <a:latin typeface="Canva Sans"/>
                <a:ea typeface="Canva Sans"/>
                <a:cs typeface="Canva Sans"/>
                <a:sym typeface="Canva Sans"/>
                <a:hlinkClick r:id="rId3" tooltip="https://docs.google.com/spreadsheets/d/1f-UZPGKOIe7lPTYhRb27l8pY9brpmhZRsVEX2GFgcig/edit?usp=sharing"/>
              </a:rPr>
              <a:t>Click to see the detailed Audit Score Report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0EDB2C0-6E21-DADB-218C-4E1CC3899669}"/>
              </a:ext>
            </a:extLst>
          </p:cNvPr>
          <p:cNvSpPr/>
          <p:nvPr/>
        </p:nvSpPr>
        <p:spPr>
          <a:xfrm>
            <a:off x="298924" y="2301571"/>
            <a:ext cx="4042194" cy="2084277"/>
          </a:xfrm>
          <a:prstGeom prst="roundRect">
            <a:avLst>
              <a:gd name="adj" fmla="val 17527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OVERALL COMPLIANCE</a:t>
            </a:r>
            <a:endParaRPr lang="en-US" b="1" dirty="0"/>
          </a:p>
          <a:p>
            <a:pPr algn="ctr"/>
            <a:r>
              <a:rPr lang="en-US" sz="4400" b="1" dirty="0"/>
              <a:t>50</a:t>
            </a:r>
            <a:r>
              <a:rPr lang="en-US" sz="4400" b="1" dirty="0" err="1"/>
              <a:t/>
            </a:r>
            <a:r>
              <a:rPr lang="en-US" sz="4400" b="1" dirty="0"/>
              <a:t>%</a:t>
            </a:r>
            <a:endParaRPr lang="en-US" b="1" dirty="0"/>
          </a:p>
          <a:p>
            <a:pPr algn="ctr"/>
            <a:r>
              <a:rPr lang="en-US" sz="2000" b="1" dirty="0"/>
              <a:t>AUDIT SCORE</a:t>
            </a:r>
            <a:endParaRPr lang="en-IN" b="1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78BB24B0-335D-F5A3-AB70-86DBAECBBE94}"/>
              </a:ext>
            </a:extLst>
          </p:cNvPr>
          <p:cNvSpPr/>
          <p:nvPr/>
        </p:nvSpPr>
        <p:spPr>
          <a:xfrm>
            <a:off x="4876800" y="2301259"/>
            <a:ext cx="4042194" cy="2084277"/>
          </a:xfrm>
          <a:prstGeom prst="roundRect">
            <a:avLst>
              <a:gd name="adj" fmla="val 17527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PEST CONTROL</a:t>
            </a:r>
            <a:endParaRPr lang="en-US" b="1" dirty="0"/>
          </a:p>
          <a:p>
            <a:pPr algn="ctr"/>
            <a:r>
              <a:rPr lang="en-US" sz="4400" b="1" dirty="0"/>
              <a:t>0/30</a:t>
            </a:r>
            <a:r>
              <a:rPr lang="en-US" sz="4400" b="1" dirty="0" err="1"/>
              <a:t/>
            </a:r>
            <a:r>
              <a:rPr lang="en-US" sz="4400" b="1" dirty="0"/>
              <a:t/>
            </a:r>
            <a:endParaRPr lang="en-US" b="1" dirty="0"/>
          </a:p>
          <a:p>
            <a:pPr algn="ctr"/>
            <a:r>
              <a:rPr lang="en-US" sz="2000" b="1" dirty="0"/>
              <a:t>ACHIEVED SCORE</a:t>
            </a:r>
            <a:endParaRPr lang="en-IN" b="1" dirty="0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37216BCA-7601-D43D-F480-8AEF89CC3095}"/>
              </a:ext>
            </a:extLst>
          </p:cNvPr>
          <p:cNvSpPr/>
          <p:nvPr/>
        </p:nvSpPr>
        <p:spPr>
          <a:xfrm>
            <a:off x="9406619" y="2223264"/>
            <a:ext cx="4042194" cy="2084277"/>
          </a:xfrm>
          <a:prstGeom prst="roundRect">
            <a:avLst>
              <a:gd name="adj" fmla="val 17527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INFRASTRUCTURE</a:t>
            </a:r>
            <a:endParaRPr lang="en-US" b="1" dirty="0"/>
          </a:p>
          <a:p>
            <a:pPr algn="ctr"/>
            <a:r>
              <a:rPr lang="en-US" sz="4400" b="1" dirty="0"/>
              <a:t>0/20</a:t>
            </a:r>
            <a:r>
              <a:rPr lang="en-US" sz="4400" b="1" dirty="0" err="1"/>
              <a:t/>
            </a:r>
            <a:r>
              <a:rPr lang="en-US" sz="4400" b="1" dirty="0"/>
              <a:t/>
            </a:r>
            <a:endParaRPr lang="en-US" b="1" dirty="0"/>
          </a:p>
          <a:p>
            <a:pPr algn="ctr"/>
            <a:r>
              <a:rPr lang="en-US" sz="2000" b="1" dirty="0"/>
              <a:t>ACHIEVED SCORE</a:t>
            </a:r>
            <a:endParaRPr lang="en-IN" b="1" dirty="0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D2CC434E-2CD1-0987-0899-61E735EEFAAE}"/>
              </a:ext>
            </a:extLst>
          </p:cNvPr>
          <p:cNvSpPr/>
          <p:nvPr/>
        </p:nvSpPr>
        <p:spPr>
          <a:xfrm>
            <a:off x="13973609" y="2334959"/>
            <a:ext cx="4042194" cy="2084277"/>
          </a:xfrm>
          <a:prstGeom prst="roundRect">
            <a:avLst>
              <a:gd name="adj" fmla="val 17527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SANITATION</a:t>
            </a:r>
            <a:endParaRPr lang="en-US" b="1" dirty="0"/>
          </a:p>
          <a:p>
            <a:pPr algn="ctr"/>
            <a:r>
              <a:rPr lang="en-US" sz="4400" b="1" dirty="0"/>
              <a:t>0/20</a:t>
            </a:r>
            <a:r>
              <a:rPr lang="en-US" sz="4400" b="1" dirty="0" err="1"/>
              <a:t/>
            </a:r>
            <a:r>
              <a:rPr lang="en-US" sz="4400" b="1" dirty="0"/>
              <a:t/>
            </a:r>
            <a:endParaRPr lang="en-US" b="1" dirty="0"/>
          </a:p>
          <a:p>
            <a:pPr algn="ctr"/>
            <a:r>
              <a:rPr lang="en-US" sz="2000" b="1" dirty="0"/>
              <a:t>ACHIEVED SCORE</a:t>
            </a:r>
            <a:endParaRPr lang="en-IN" b="1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6361" y="2819738"/>
            <a:ext cx="18015278" cy="7273668"/>
          </a:xfrm>
          <a:custGeom>
            <a:avLst/>
            <a:gdLst/>
            <a:ahLst/>
            <a:cxnLst/>
            <a:rect l="l" t="t" r="r" b="b"/>
            <a:pathLst>
              <a:path w="18015278" h="7273668">
                <a:moveTo>
                  <a:pt x="0" y="0"/>
                </a:moveTo>
                <a:lnTo>
                  <a:pt x="18015278" y="0"/>
                </a:lnTo>
                <a:lnTo>
                  <a:pt x="18015278" y="7273669"/>
                </a:lnTo>
                <a:lnTo>
                  <a:pt x="0" y="727366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3" name="TextBox 3"/>
          <p:cNvSpPr txBox="1"/>
          <p:nvPr/>
        </p:nvSpPr>
        <p:spPr>
          <a:xfrm>
            <a:off x="360469" y="356450"/>
            <a:ext cx="17271228" cy="157091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339"/>
              </a:lnSpc>
              <a:spcBef>
                <a:spcPct val="0"/>
              </a:spcBef>
            </a:pPr>
            <a:r>
              <a:rPr lang="en-US" sz="4527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PEST ACTIVITY – KEY FINDINGS</a:t>
            </a:r>
          </a:p>
          <a:p>
            <a:pPr algn="ctr">
              <a:lnSpc>
                <a:spcPts val="6339"/>
              </a:lnSpc>
              <a:spcBef>
                <a:spcPct val="0"/>
              </a:spcBef>
            </a:pPr>
            <a:endParaRPr lang="en-US" sz="4527" b="1" dirty="0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685800" y="1740416"/>
            <a:ext cx="15366227" cy="8433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99"/>
              </a:lnSpc>
              <a:spcBef>
                <a:spcPct val="0"/>
              </a:spcBef>
            </a:pPr>
            <a:r>
              <a:rPr lang="en-US" sz="2427" b="1" dirty="0">
                <a:solidFill>
                  <a:srgbClr val="000000">
                    <a:alpha val="71765"/>
                  </a:srgbClr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Recorded observations from the audit matrix</a:t>
            </a:r>
          </a:p>
          <a:p>
            <a:pPr algn="ctr">
              <a:lnSpc>
                <a:spcPts val="3399"/>
              </a:lnSpc>
              <a:spcBef>
                <a:spcPct val="0"/>
              </a:spcBef>
            </a:pPr>
            <a:endParaRPr lang="en-US" sz="2427" b="1" dirty="0">
              <a:solidFill>
                <a:srgbClr val="000000">
                  <a:alpha val="71765"/>
                </a:srgbClr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27817" y="2857500"/>
            <a:ext cx="18060183" cy="5790546"/>
          </a:xfrm>
          <a:custGeom>
            <a:avLst/>
            <a:gdLst/>
            <a:ahLst/>
            <a:cxnLst/>
            <a:rect l="l" t="t" r="r" b="b"/>
            <a:pathLst>
              <a:path w="18060183" h="5790546">
                <a:moveTo>
                  <a:pt x="0" y="0"/>
                </a:moveTo>
                <a:lnTo>
                  <a:pt x="18060184" y="0"/>
                </a:lnTo>
                <a:lnTo>
                  <a:pt x="18060184" y="5790546"/>
                </a:lnTo>
                <a:lnTo>
                  <a:pt x="0" y="579054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3" name="TextBox 3"/>
          <p:cNvSpPr txBox="1"/>
          <p:nvPr/>
        </p:nvSpPr>
        <p:spPr>
          <a:xfrm>
            <a:off x="247416" y="257884"/>
            <a:ext cx="17049983" cy="77081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339"/>
              </a:lnSpc>
              <a:spcBef>
                <a:spcPct val="0"/>
              </a:spcBef>
            </a:pPr>
            <a:r>
              <a:rPr lang="en-US" sz="4527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ROOT CAUSE ANALYSIS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587623" y="1231857"/>
            <a:ext cx="15557377" cy="3944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259"/>
              </a:lnSpc>
              <a:spcBef>
                <a:spcPct val="0"/>
              </a:spcBef>
            </a:pPr>
            <a:r>
              <a:rPr lang="en-US" sz="2327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Environmental conditions identified during inspection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-12290" y="9422180"/>
            <a:ext cx="18232544" cy="3815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19"/>
              </a:lnSpc>
              <a:spcBef>
                <a:spcPct val="0"/>
              </a:spcBef>
            </a:pPr>
            <a:r>
              <a:rPr lang="en-US" sz="2227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Pest control addresses the pest population; eliminating food, water and </a:t>
            </a:r>
            <a:r>
              <a:rPr lang="en-US" sz="2227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harbourage</a:t>
            </a:r>
            <a:r>
              <a:rPr lang="en-US" sz="2227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sources is essential for sustained control.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4BE69A8-FB0D-2425-4C44-F4B81D3AE47A}"/>
              </a:ext>
            </a:extLst>
          </p:cNvPr>
          <p:cNvCxnSpPr>
            <a:cxnSpLocks/>
          </p:cNvCxnSpPr>
          <p:nvPr/>
        </p:nvCxnSpPr>
        <p:spPr>
          <a:xfrm>
            <a:off x="339213" y="2857500"/>
            <a:ext cx="24581" cy="251460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0944" y="2509775"/>
            <a:ext cx="18026111" cy="7498496"/>
          </a:xfrm>
          <a:custGeom>
            <a:avLst/>
            <a:gdLst/>
            <a:ahLst/>
            <a:cxnLst/>
            <a:rect l="l" t="t" r="r" b="b"/>
            <a:pathLst>
              <a:path w="18026111" h="7498496">
                <a:moveTo>
                  <a:pt x="0" y="0"/>
                </a:moveTo>
                <a:lnTo>
                  <a:pt x="18026110" y="0"/>
                </a:lnTo>
                <a:lnTo>
                  <a:pt x="18026110" y="7498496"/>
                </a:lnTo>
                <a:lnTo>
                  <a:pt x="0" y="74984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3" name="TextBox 3"/>
          <p:cNvSpPr txBox="1"/>
          <p:nvPr/>
        </p:nvSpPr>
        <p:spPr>
          <a:xfrm>
            <a:off x="308726" y="278729"/>
            <a:ext cx="17293474" cy="77081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339"/>
              </a:lnSpc>
              <a:spcBef>
                <a:spcPct val="0"/>
              </a:spcBef>
            </a:pPr>
            <a:r>
              <a:rPr lang="en-US" sz="4527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INFRASTRUCTURE NON-CONFORMITIES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308726" y="1296839"/>
            <a:ext cx="16683874" cy="3589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979"/>
              </a:lnSpc>
              <a:spcBef>
                <a:spcPct val="0"/>
              </a:spcBef>
            </a:pPr>
            <a:r>
              <a:rPr lang="en-US" sz="2127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Specific locations recorded in the audit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39635" y="340434"/>
            <a:ext cx="17133965" cy="68826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639"/>
              </a:lnSpc>
              <a:spcBef>
                <a:spcPct val="0"/>
              </a:spcBef>
            </a:pPr>
            <a:r>
              <a:rPr lang="en-US" sz="4027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HYGIENE &amp; HOUSEKEEPING NON-CONFORMITIES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587377" y="1258356"/>
            <a:ext cx="15100423" cy="3944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259"/>
              </a:lnSpc>
              <a:spcBef>
                <a:spcPct val="0"/>
              </a:spcBef>
            </a:pPr>
            <a:r>
              <a:rPr lang="en-US" sz="2327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Conditions contributing to pest attraction and </a:t>
            </a:r>
            <a:r>
              <a:rPr lang="en-US" sz="2327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harbourage</a:t>
            </a:r>
            <a:endParaRPr lang="en-US" sz="2327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239635" y="3032956"/>
            <a:ext cx="18048365" cy="44334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10553" lvl="1" indent="-305276" algn="l">
              <a:lnSpc>
                <a:spcPts val="3959"/>
              </a:lnSpc>
              <a:buFont typeface="Arial"/>
              <a:buChar char="•"/>
            </a:pPr>
            <a:r>
              <a:rPr lang="en-US" sz="282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Grease accumulation observed on corners of racks at the lobby of the back entrance of Modo Modo restaurant.</a:t>
            </a:r>
          </a:p>
          <a:p>
            <a:pPr marL="610553" lvl="1" indent="-305276" algn="l">
              <a:lnSpc>
                <a:spcPts val="3959"/>
              </a:lnSpc>
              <a:buFont typeface="Arial"/>
              <a:buChar char="•"/>
            </a:pPr>
            <a:r>
              <a:rPr lang="en-US" sz="282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Food debris and grease found on the counter under Hood 4 at Modo Modo.</a:t>
            </a:r>
          </a:p>
          <a:p>
            <a:pPr marL="610553" lvl="1" indent="-305276" algn="l">
              <a:lnSpc>
                <a:spcPts val="3959"/>
              </a:lnSpc>
              <a:buFont typeface="Arial"/>
              <a:buChar char="•"/>
            </a:pPr>
            <a:r>
              <a:rPr lang="en-US" sz="282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Floor corners at the back door of Modo Modo require increased cleaning frequency.</a:t>
            </a:r>
          </a:p>
          <a:p>
            <a:pPr marL="610553" lvl="1" indent="-305276" algn="l">
              <a:lnSpc>
                <a:spcPts val="3959"/>
              </a:lnSpc>
              <a:buFont typeface="Arial"/>
              <a:buChar char="•"/>
            </a:pPr>
            <a:r>
              <a:rPr lang="en-US" sz="282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Cardboard boxes were found inside the bar area and directly on the floor, providing potential pest harbourage.</a:t>
            </a:r>
          </a:p>
          <a:p>
            <a:pPr marL="610553" lvl="1" indent="-305276" algn="l">
              <a:lnSpc>
                <a:spcPts val="3959"/>
              </a:lnSpc>
              <a:buFont typeface="Arial"/>
              <a:buChar char="•"/>
            </a:pPr>
            <a:r>
              <a:rPr lang="en-US" sz="282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Drains were dirty and contained leaves and biowaste.</a:t>
            </a:r>
          </a:p>
          <a:p>
            <a:pPr marL="610553" lvl="1" indent="-305276" algn="l">
              <a:lnSpc>
                <a:spcPts val="3959"/>
              </a:lnSpc>
              <a:buFont typeface="Arial"/>
              <a:buChar char="•"/>
            </a:pPr>
            <a:r>
              <a:rPr lang="en-US" sz="282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Standing water was observed in planters at the main entrance, creating a potential mosquito breeding risk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64231" y="8857102"/>
            <a:ext cx="17199173" cy="355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79"/>
              </a:lnSpc>
              <a:spcBef>
                <a:spcPct val="0"/>
              </a:spcBef>
            </a:pPr>
            <a:r>
              <a:rPr lang="en-US" sz="2127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PRIORITY: remove food residue • deep-clean inaccessible areas • clean drains • eliminate standing water • remove excess cardboard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57200" y="2628900"/>
            <a:ext cx="18029132" cy="5606408"/>
          </a:xfrm>
          <a:custGeom>
            <a:avLst/>
            <a:gdLst/>
            <a:ahLst/>
            <a:cxnLst/>
            <a:rect l="l" t="t" r="r" b="b"/>
            <a:pathLst>
              <a:path w="18029132" h="5606408">
                <a:moveTo>
                  <a:pt x="0" y="0"/>
                </a:moveTo>
                <a:lnTo>
                  <a:pt x="18029133" y="0"/>
                </a:lnTo>
                <a:lnTo>
                  <a:pt x="18029133" y="5606408"/>
                </a:lnTo>
                <a:lnTo>
                  <a:pt x="0" y="56064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470" r="-1665" b="-470"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3" name="TextBox 3"/>
          <p:cNvSpPr txBox="1"/>
          <p:nvPr/>
        </p:nvSpPr>
        <p:spPr>
          <a:xfrm>
            <a:off x="191302" y="300283"/>
            <a:ext cx="16877498" cy="6299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179"/>
              </a:lnSpc>
              <a:spcBef>
                <a:spcPct val="0"/>
              </a:spcBef>
            </a:pPr>
            <a:r>
              <a:rPr lang="en-US" sz="3699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ISSUE-WISE CONTROL STRATEGY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48037" y="1274577"/>
            <a:ext cx="5401568" cy="3727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80"/>
              </a:lnSpc>
              <a:spcBef>
                <a:spcPct val="0"/>
              </a:spcBef>
            </a:pPr>
            <a:r>
              <a:rPr lang="en-US" sz="2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Based on the actual findings in the audit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82139" y="2174231"/>
            <a:ext cx="17523723" cy="6319492"/>
          </a:xfrm>
          <a:custGeom>
            <a:avLst/>
            <a:gdLst/>
            <a:ahLst/>
            <a:cxnLst/>
            <a:rect l="l" t="t" r="r" b="b"/>
            <a:pathLst>
              <a:path w="17523723" h="6319492">
                <a:moveTo>
                  <a:pt x="0" y="0"/>
                </a:moveTo>
                <a:lnTo>
                  <a:pt x="17523722" y="0"/>
                </a:lnTo>
                <a:lnTo>
                  <a:pt x="17523722" y="6319492"/>
                </a:lnTo>
                <a:lnTo>
                  <a:pt x="0" y="631949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-312808" y="203963"/>
            <a:ext cx="13674570" cy="15538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29"/>
              </a:lnSpc>
              <a:spcBef>
                <a:spcPct val="0"/>
              </a:spcBef>
            </a:pPr>
            <a:r>
              <a:rPr lang="en-US" sz="444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PEST CONTROL &amp; CLIENT RESPONSIBILITIES</a:t>
            </a:r>
          </a:p>
          <a:p>
            <a:pPr algn="ctr">
              <a:lnSpc>
                <a:spcPts val="6229"/>
              </a:lnSpc>
              <a:spcBef>
                <a:spcPct val="0"/>
              </a:spcBef>
            </a:pPr>
            <a:endParaRPr lang="en-US" sz="4449" b="1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300463" y="8874723"/>
            <a:ext cx="15958837" cy="7975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89"/>
              </a:lnSpc>
              <a:spcBef>
                <a:spcPct val="0"/>
              </a:spcBef>
            </a:pPr>
            <a:r>
              <a:rPr lang="en-US" sz="234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SUSTAINABLE CONTROL = PEST MANAGEMENT + HYGIENE + INFRASTRUCTURE CORRECTION</a:t>
            </a:r>
          </a:p>
          <a:p>
            <a:pPr algn="ctr">
              <a:lnSpc>
                <a:spcPts val="3289"/>
              </a:lnSpc>
              <a:spcBef>
                <a:spcPct val="0"/>
              </a:spcBef>
            </a:pPr>
            <a:endParaRPr lang="en-US" sz="2349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0" y="208518"/>
            <a:ext cx="10219115" cy="15703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69"/>
              </a:lnSpc>
              <a:spcBef>
                <a:spcPct val="0"/>
              </a:spcBef>
            </a:pPr>
            <a:r>
              <a:rPr lang="en-US" sz="454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IMMEDIATE CORRECTIVE ACTIONS</a:t>
            </a:r>
          </a:p>
          <a:p>
            <a:pPr algn="ctr">
              <a:lnSpc>
                <a:spcPts val="6369"/>
              </a:lnSpc>
              <a:spcBef>
                <a:spcPct val="0"/>
              </a:spcBef>
            </a:pPr>
            <a:endParaRPr lang="en-US" sz="4549" b="1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1028649" y="1235352"/>
            <a:ext cx="7041654" cy="7550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09"/>
              </a:lnSpc>
              <a:spcBef>
                <a:spcPct val="0"/>
              </a:spcBef>
            </a:pPr>
            <a:r>
              <a:rPr lang="en-US" sz="214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Recommended priorities based on audit observations</a:t>
            </a:r>
          </a:p>
          <a:p>
            <a:pPr algn="ctr">
              <a:lnSpc>
                <a:spcPts val="3009"/>
              </a:lnSpc>
              <a:spcBef>
                <a:spcPct val="0"/>
              </a:spcBef>
            </a:pPr>
            <a:endParaRPr lang="en-US" sz="2149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716907" y="2823208"/>
            <a:ext cx="17376996" cy="54654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44711" lvl="1" indent="-372355" algn="l">
              <a:lnSpc>
                <a:spcPts val="4829"/>
              </a:lnSpc>
              <a:buAutoNum type="arabicPeriod"/>
            </a:pPr>
            <a:r>
              <a:rPr lang="en-US" sz="344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Seal all identified gaps/cracks in shelves, cabinets and service areas.</a:t>
            </a:r>
          </a:p>
          <a:p>
            <a:pPr marL="744711" lvl="1" indent="-372355" algn="l">
              <a:lnSpc>
                <a:spcPts val="4829"/>
              </a:lnSpc>
              <a:buAutoNum type="arabicPeriod"/>
            </a:pPr>
            <a:r>
              <a:rPr lang="en-US" sz="344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Do not keep meat or waste exposed; maintain covered waste and food handling.</a:t>
            </a:r>
          </a:p>
          <a:p>
            <a:pPr marL="744711" lvl="1" indent="-372355" algn="l">
              <a:lnSpc>
                <a:spcPts val="4829"/>
              </a:lnSpc>
              <a:buAutoNum type="arabicPeriod"/>
            </a:pPr>
            <a:r>
              <a:rPr lang="en-US" sz="344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Deep-clean grease and food debris from racks, corners and under Hood 4.</a:t>
            </a:r>
          </a:p>
          <a:p>
            <a:pPr marL="744711" lvl="1" indent="-372355" algn="l">
              <a:lnSpc>
                <a:spcPts val="4829"/>
              </a:lnSpc>
              <a:buAutoNum type="arabicPeriod"/>
            </a:pPr>
            <a:r>
              <a:rPr lang="en-US" sz="344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Clean drains and remove leaves/biowaste; maintain regular drain hygiene.</a:t>
            </a:r>
          </a:p>
          <a:p>
            <a:pPr marL="744711" lvl="1" indent="-372355" algn="l">
              <a:lnSpc>
                <a:spcPts val="4829"/>
              </a:lnSpc>
              <a:buAutoNum type="arabicPeriod"/>
            </a:pPr>
            <a:r>
              <a:rPr lang="en-US" sz="344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Remove standing water from entrance planters immediately.</a:t>
            </a:r>
          </a:p>
          <a:p>
            <a:pPr marL="744711" lvl="1" indent="-372355" algn="l">
              <a:lnSpc>
                <a:spcPts val="4829"/>
              </a:lnSpc>
              <a:buAutoNum type="arabicPeriod"/>
            </a:pPr>
            <a:r>
              <a:rPr lang="en-US" sz="344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Remove old cardboard and avoid storing cardboard directly on the floor.</a:t>
            </a:r>
          </a:p>
          <a:p>
            <a:pPr marL="744711" lvl="1" indent="-372355" algn="l">
              <a:lnSpc>
                <a:spcPts val="4829"/>
              </a:lnSpc>
              <a:buAutoNum type="arabicPeriod"/>
            </a:pPr>
            <a:r>
              <a:rPr lang="en-US" sz="344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Increase cleaning frequency at back-door/floor-corner areas.</a:t>
            </a:r>
          </a:p>
          <a:p>
            <a:pPr marL="744711" lvl="1" indent="-372355" algn="l">
              <a:lnSpc>
                <a:spcPts val="4829"/>
              </a:lnSpc>
              <a:buAutoNum type="arabicPeriod"/>
            </a:pPr>
            <a:r>
              <a:rPr lang="en-US" sz="344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Continue pest-control monitoring and treatment and verify activity reduction.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98615" y="295712"/>
            <a:ext cx="3864470" cy="7329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76"/>
              </a:lnSpc>
              <a:spcBef>
                <a:spcPct val="0"/>
              </a:spcBef>
            </a:pPr>
            <a:r>
              <a:rPr lang="en-US" sz="434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CONCLUSION 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2174230" y="1657869"/>
            <a:ext cx="13939540" cy="4303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77"/>
              </a:lnSpc>
              <a:spcBef>
                <a:spcPct val="0"/>
              </a:spcBef>
            </a:pPr>
            <a:r>
              <a:rPr lang="en-US" sz="2555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THE ROOT CAUSE IS NOT ONLY PEST ACTIVITY — IT IS THE CONDITIONS SUPPORTING IT.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66369" y="4060263"/>
            <a:ext cx="17955262" cy="4349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94925" lvl="1" indent="-297463" algn="l">
              <a:lnSpc>
                <a:spcPts val="3857"/>
              </a:lnSpc>
              <a:buFont typeface="Arial"/>
              <a:buChar char="•"/>
            </a:pPr>
            <a:r>
              <a:rPr lang="en-US" sz="275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 audit score of 33.66% indicates significant scope for improvement across pest control, infrastructure and sanitation.</a:t>
            </a:r>
          </a:p>
          <a:p>
            <a:pPr marL="594925" lvl="1" indent="-297463" algn="l">
              <a:lnSpc>
                <a:spcPts val="3857"/>
              </a:lnSpc>
              <a:buFont typeface="Arial"/>
              <a:buChar char="•"/>
            </a:pPr>
            <a:r>
              <a:rPr lang="en-US" sz="275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Current pest findings include live cockroaches, cockroach egg cases, flies, dead pests and pest captures in traps.</a:t>
            </a:r>
          </a:p>
          <a:p>
            <a:pPr marL="594925" lvl="1" indent="-297463" algn="l">
              <a:lnSpc>
                <a:spcPts val="3857"/>
              </a:lnSpc>
              <a:buFont typeface="Arial"/>
              <a:buChar char="•"/>
            </a:pPr>
            <a:r>
              <a:rPr lang="en-US" sz="275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Multiple structural gaps and hygiene deficiencies provide potential access, food sources and harbourage.</a:t>
            </a:r>
          </a:p>
          <a:p>
            <a:pPr marL="594925" lvl="1" indent="-297463" algn="l">
              <a:lnSpc>
                <a:spcPts val="3857"/>
              </a:lnSpc>
              <a:buFont typeface="Arial"/>
              <a:buChar char="•"/>
            </a:pPr>
            <a:r>
              <a:rPr lang="en-US" sz="275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Immediate closure of the identified hygiene, drainage, standing-water and infrastructure issues should be prioritised.</a:t>
            </a:r>
          </a:p>
          <a:p>
            <a:pPr marL="594925" lvl="1" indent="-297463" algn="l">
              <a:lnSpc>
                <a:spcPts val="3857"/>
              </a:lnSpc>
              <a:buFont typeface="Arial"/>
              <a:buChar char="•"/>
            </a:pPr>
            <a:r>
              <a:rPr lang="en-US" sz="275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Continue pest-control services and monitoring while corrective actions are implemented and verified.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93008" y="6674977"/>
            <a:ext cx="869546" cy="1449243"/>
          </a:xfrm>
          <a:custGeom>
            <a:avLst/>
            <a:gdLst/>
            <a:ahLst/>
            <a:cxnLst/>
            <a:rect l="l" t="t" r="r" b="b"/>
            <a:pathLst>
              <a:path w="869546" h="1449243">
                <a:moveTo>
                  <a:pt x="0" y="0"/>
                </a:moveTo>
                <a:lnTo>
                  <a:pt x="869546" y="0"/>
                </a:lnTo>
                <a:lnTo>
                  <a:pt x="869546" y="1449243"/>
                </a:lnTo>
                <a:lnTo>
                  <a:pt x="0" y="144924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2179772" y="6624774"/>
            <a:ext cx="1694542" cy="1610525"/>
          </a:xfrm>
          <a:custGeom>
            <a:avLst/>
            <a:gdLst/>
            <a:ahLst/>
            <a:cxnLst/>
            <a:rect l="l" t="t" r="r" b="b"/>
            <a:pathLst>
              <a:path w="1694542" h="1610525">
                <a:moveTo>
                  <a:pt x="0" y="0"/>
                </a:moveTo>
                <a:lnTo>
                  <a:pt x="1694542" y="0"/>
                </a:lnTo>
                <a:lnTo>
                  <a:pt x="1694542" y="1610525"/>
                </a:lnTo>
                <a:lnTo>
                  <a:pt x="0" y="16105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95582" t="-55184" r="-407968" b="-88834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4264839" y="6753053"/>
            <a:ext cx="1628050" cy="1386996"/>
          </a:xfrm>
          <a:custGeom>
            <a:avLst/>
            <a:gdLst/>
            <a:ahLst/>
            <a:cxnLst/>
            <a:rect l="l" t="t" r="r" b="b"/>
            <a:pathLst>
              <a:path w="1628050" h="1386996">
                <a:moveTo>
                  <a:pt x="0" y="0"/>
                </a:moveTo>
                <a:lnTo>
                  <a:pt x="1628050" y="0"/>
                </a:lnTo>
                <a:lnTo>
                  <a:pt x="1628050" y="1386996"/>
                </a:lnTo>
                <a:lnTo>
                  <a:pt x="0" y="13869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65765" t="-53819" r="-254942" b="-81041"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6103574" y="6930067"/>
            <a:ext cx="1425208" cy="1294442"/>
          </a:xfrm>
          <a:custGeom>
            <a:avLst/>
            <a:gdLst/>
            <a:ahLst/>
            <a:cxnLst/>
            <a:rect l="l" t="t" r="r" b="b"/>
            <a:pathLst>
              <a:path w="1425208" h="1294442">
                <a:moveTo>
                  <a:pt x="0" y="0"/>
                </a:moveTo>
                <a:lnTo>
                  <a:pt x="1425208" y="0"/>
                </a:lnTo>
                <a:lnTo>
                  <a:pt x="1425208" y="1294442"/>
                </a:lnTo>
                <a:lnTo>
                  <a:pt x="0" y="129444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09500" t="-60444" r="-181690" b="-89675"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8068883" y="6930067"/>
            <a:ext cx="1082624" cy="1294442"/>
          </a:xfrm>
          <a:custGeom>
            <a:avLst/>
            <a:gdLst/>
            <a:ahLst/>
            <a:cxnLst/>
            <a:rect l="l" t="t" r="r" b="b"/>
            <a:pathLst>
              <a:path w="1082624" h="1294442">
                <a:moveTo>
                  <a:pt x="0" y="0"/>
                </a:moveTo>
                <a:lnTo>
                  <a:pt x="1082624" y="0"/>
                </a:lnTo>
                <a:lnTo>
                  <a:pt x="1082624" y="1294442"/>
                </a:lnTo>
                <a:lnTo>
                  <a:pt x="0" y="129444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-592850" y="9258300"/>
            <a:ext cx="19855663" cy="774877"/>
          </a:xfrm>
          <a:custGeom>
            <a:avLst/>
            <a:gdLst/>
            <a:ahLst/>
            <a:cxnLst/>
            <a:rect l="l" t="t" r="r" b="b"/>
            <a:pathLst>
              <a:path w="19855663" h="774877">
                <a:moveTo>
                  <a:pt x="0" y="0"/>
                </a:moveTo>
                <a:lnTo>
                  <a:pt x="19855663" y="0"/>
                </a:lnTo>
                <a:lnTo>
                  <a:pt x="19855663" y="774877"/>
                </a:lnTo>
                <a:lnTo>
                  <a:pt x="0" y="77487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39387" t="-111458" b="-431449"/>
            </a:stretch>
          </a:blipFill>
        </p:spPr>
      </p:sp>
      <p:sp>
        <p:nvSpPr>
          <p:cNvPr id="8" name="Freeform 8"/>
          <p:cNvSpPr/>
          <p:nvPr/>
        </p:nvSpPr>
        <p:spPr>
          <a:xfrm rot="2356193">
            <a:off x="3885932" y="4753277"/>
            <a:ext cx="9448527" cy="2424484"/>
          </a:xfrm>
          <a:custGeom>
            <a:avLst/>
            <a:gdLst/>
            <a:ahLst/>
            <a:cxnLst/>
            <a:rect l="l" t="t" r="r" b="b"/>
            <a:pathLst>
              <a:path w="9448527" h="2424484">
                <a:moveTo>
                  <a:pt x="0" y="0"/>
                </a:moveTo>
                <a:lnTo>
                  <a:pt x="9448527" y="0"/>
                </a:lnTo>
                <a:lnTo>
                  <a:pt x="9448527" y="2424484"/>
                </a:lnTo>
                <a:lnTo>
                  <a:pt x="0" y="242448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21999"/>
            </a:blip>
            <a:stretch>
              <a:fillRect t="-268461" b="-497567"/>
            </a:stretch>
          </a:blipFill>
        </p:spPr>
      </p:sp>
      <p:grpSp>
        <p:nvGrpSpPr>
          <p:cNvPr id="9" name="Group 9"/>
          <p:cNvGrpSpPr>
            <a:grpSpLocks noChangeAspect="1"/>
          </p:cNvGrpSpPr>
          <p:nvPr/>
        </p:nvGrpSpPr>
        <p:grpSpPr>
          <a:xfrm>
            <a:off x="8595825" y="744019"/>
            <a:ext cx="9201438" cy="5175809"/>
            <a:chOff x="0" y="0"/>
            <a:chExt cx="5852160" cy="3291840"/>
          </a:xfrm>
        </p:grpSpPr>
        <p:sp>
          <p:nvSpPr>
            <p:cNvPr id="10" name="Freeform 10"/>
            <p:cNvSpPr/>
            <p:nvPr/>
          </p:nvSpPr>
          <p:spPr>
            <a:xfrm>
              <a:off x="0" y="17399"/>
              <a:ext cx="1966214" cy="3243707"/>
            </a:xfrm>
            <a:custGeom>
              <a:avLst/>
              <a:gdLst/>
              <a:ahLst/>
              <a:cxnLst/>
              <a:rect l="l" t="t" r="r" b="b"/>
              <a:pathLst>
                <a:path w="1966214" h="3243707">
                  <a:moveTo>
                    <a:pt x="0" y="0"/>
                  </a:moveTo>
                  <a:lnTo>
                    <a:pt x="1966214" y="0"/>
                  </a:lnTo>
                  <a:lnTo>
                    <a:pt x="1966214" y="3243707"/>
                  </a:lnTo>
                  <a:lnTo>
                    <a:pt x="0" y="32437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11589" r="-11589"/>
              </a:stretch>
            </a:blipFill>
          </p:spPr>
        </p:sp>
        <p:sp>
          <p:nvSpPr>
            <p:cNvPr id="11" name="Freeform 11"/>
            <p:cNvSpPr/>
            <p:nvPr/>
          </p:nvSpPr>
          <p:spPr>
            <a:xfrm>
              <a:off x="1974723" y="17399"/>
              <a:ext cx="1981581" cy="3243707"/>
            </a:xfrm>
            <a:custGeom>
              <a:avLst/>
              <a:gdLst/>
              <a:ahLst/>
              <a:cxnLst/>
              <a:rect l="l" t="t" r="r" b="b"/>
              <a:pathLst>
                <a:path w="1981581" h="3243707">
                  <a:moveTo>
                    <a:pt x="1981581" y="3243707"/>
                  </a:moveTo>
                  <a:lnTo>
                    <a:pt x="0" y="3243707"/>
                  </a:lnTo>
                  <a:lnTo>
                    <a:pt x="0" y="0"/>
                  </a:lnTo>
                  <a:lnTo>
                    <a:pt x="1981581" y="0"/>
                  </a:lnTo>
                  <a:lnTo>
                    <a:pt x="1981581" y="3243707"/>
                  </a:lnTo>
                  <a:close/>
                </a:path>
              </a:pathLst>
            </a:custGeom>
            <a:blipFill>
              <a:blip r:embed="rId8"/>
              <a:stretch>
                <a:fillRect l="-11043" r="-11043"/>
              </a:stretch>
            </a:blipFill>
          </p:spPr>
        </p:sp>
        <p:sp>
          <p:nvSpPr>
            <p:cNvPr id="12" name="Freeform 12"/>
            <p:cNvSpPr/>
            <p:nvPr/>
          </p:nvSpPr>
          <p:spPr>
            <a:xfrm>
              <a:off x="3966337" y="17399"/>
              <a:ext cx="1885823" cy="3259074"/>
            </a:xfrm>
            <a:custGeom>
              <a:avLst/>
              <a:gdLst/>
              <a:ahLst/>
              <a:cxnLst/>
              <a:rect l="l" t="t" r="r" b="b"/>
              <a:pathLst>
                <a:path w="1885823" h="3259074">
                  <a:moveTo>
                    <a:pt x="1885823" y="3259074"/>
                  </a:moveTo>
                  <a:lnTo>
                    <a:pt x="0" y="3259074"/>
                  </a:lnTo>
                  <a:lnTo>
                    <a:pt x="0" y="0"/>
                  </a:lnTo>
                  <a:lnTo>
                    <a:pt x="1885823" y="0"/>
                  </a:lnTo>
                  <a:lnTo>
                    <a:pt x="1885823" y="3259074"/>
                  </a:lnTo>
                  <a:close/>
                </a:path>
              </a:pathLst>
            </a:custGeom>
            <a:blipFill>
              <a:blip r:embed="rId9"/>
              <a:stretch>
                <a:fillRect l="-14447" r="-14447"/>
              </a:stretch>
            </a:blipFill>
          </p:spPr>
        </p:sp>
        <p:sp>
          <p:nvSpPr>
            <p:cNvPr id="13" name="Freeform 13"/>
            <p:cNvSpPr/>
            <p:nvPr/>
          </p:nvSpPr>
          <p:spPr>
            <a:xfrm>
              <a:off x="0" y="0"/>
              <a:ext cx="5852160" cy="3291840"/>
            </a:xfrm>
            <a:custGeom>
              <a:avLst/>
              <a:gdLst/>
              <a:ahLst/>
              <a:cxnLst/>
              <a:rect l="l" t="t" r="r" b="b"/>
              <a:pathLst>
                <a:path w="5852160" h="3291840">
                  <a:moveTo>
                    <a:pt x="5852160" y="3291840"/>
                  </a:moveTo>
                  <a:lnTo>
                    <a:pt x="0" y="3291840"/>
                  </a:lnTo>
                  <a:lnTo>
                    <a:pt x="0" y="0"/>
                  </a:lnTo>
                  <a:lnTo>
                    <a:pt x="5852160" y="0"/>
                  </a:lnTo>
                  <a:lnTo>
                    <a:pt x="5852160" y="3291840"/>
                  </a:lnTo>
                  <a:close/>
                </a:path>
              </a:pathLst>
            </a:custGeom>
            <a:blipFill>
              <a:blip r:embed="rId10"/>
              <a:stretch>
                <a:fillRect/>
              </a:stretch>
            </a:blipFill>
          </p:spPr>
        </p:sp>
      </p:grpSp>
      <p:sp>
        <p:nvSpPr>
          <p:cNvPr id="14" name="Freeform 14"/>
          <p:cNvSpPr/>
          <p:nvPr/>
        </p:nvSpPr>
        <p:spPr>
          <a:xfrm rot="2356193" flipH="1">
            <a:off x="14463456" y="1691670"/>
            <a:ext cx="2317125" cy="594572"/>
          </a:xfrm>
          <a:custGeom>
            <a:avLst/>
            <a:gdLst/>
            <a:ahLst/>
            <a:cxnLst/>
            <a:rect l="l" t="t" r="r" b="b"/>
            <a:pathLst>
              <a:path w="2317125" h="594572">
                <a:moveTo>
                  <a:pt x="2317125" y="0"/>
                </a:moveTo>
                <a:lnTo>
                  <a:pt x="0" y="0"/>
                </a:lnTo>
                <a:lnTo>
                  <a:pt x="0" y="594572"/>
                </a:lnTo>
                <a:lnTo>
                  <a:pt x="2317125" y="594572"/>
                </a:lnTo>
                <a:lnTo>
                  <a:pt x="2317125" y="0"/>
                </a:lnTo>
                <a:close/>
              </a:path>
            </a:pathLst>
          </a:custGeom>
          <a:blipFill>
            <a:blip r:embed="rId6"/>
            <a:stretch>
              <a:fillRect t="-268461" b="-497567"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16171729" y="3812716"/>
            <a:ext cx="892504" cy="892504"/>
          </a:xfrm>
          <a:custGeom>
            <a:avLst/>
            <a:gdLst/>
            <a:ahLst/>
            <a:cxnLst/>
            <a:rect l="l" t="t" r="r" b="b"/>
            <a:pathLst>
              <a:path w="892504" h="892504">
                <a:moveTo>
                  <a:pt x="0" y="0"/>
                </a:moveTo>
                <a:lnTo>
                  <a:pt x="892505" y="0"/>
                </a:lnTo>
                <a:lnTo>
                  <a:pt x="892505" y="892505"/>
                </a:lnTo>
                <a:lnTo>
                  <a:pt x="0" y="89250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2179772" y="41402"/>
            <a:ext cx="14310420" cy="7026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98"/>
              </a:lnSpc>
              <a:spcBef>
                <a:spcPct val="0"/>
              </a:spcBef>
            </a:pPr>
            <a:r>
              <a:rPr lang="en-US" sz="4212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INTEGRATED PEST PROOFING SOLUTIONS by </a:t>
            </a:r>
            <a:r>
              <a:rPr lang="en-US" sz="4212" b="1">
                <a:solidFill>
                  <a:srgbClr val="2E70D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EPCORN</a:t>
            </a:r>
            <a:r>
              <a:rPr lang="en-US" sz="4212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: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-1096350" y="9330462"/>
            <a:ext cx="19384350" cy="5638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20"/>
              </a:lnSpc>
            </a:pPr>
            <a:r>
              <a:rPr lang="en-US" sz="33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Dont just treat the problem, Seal it permanently. 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392267" y="8095645"/>
            <a:ext cx="1394137" cy="9535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68"/>
              </a:lnSpc>
            </a:pPr>
            <a:r>
              <a:rPr lang="en-US" sz="1834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Long-lasting</a:t>
            </a:r>
          </a:p>
          <a:p>
            <a:pPr algn="ctr">
              <a:lnSpc>
                <a:spcPts val="2568"/>
              </a:lnSpc>
            </a:pPr>
            <a:r>
              <a:rPr lang="en-US" sz="1834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protection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988042" y="8391984"/>
            <a:ext cx="2078001" cy="6571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27"/>
              </a:lnSpc>
            </a:pPr>
            <a:r>
              <a:rPr lang="en-US" sz="1876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Reduces repeat complaints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146568" y="8420020"/>
            <a:ext cx="1746321" cy="6291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97"/>
              </a:lnSpc>
            </a:pPr>
            <a:r>
              <a:rPr lang="en-US" sz="1855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Stronger than spray alone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5892889" y="8258095"/>
            <a:ext cx="1846579" cy="9529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97"/>
              </a:lnSpc>
            </a:pPr>
            <a:r>
              <a:rPr lang="en-US" sz="1855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Safe &amp; professional application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655340" y="8248840"/>
            <a:ext cx="1880971" cy="9529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97"/>
              </a:lnSpc>
            </a:pPr>
            <a:r>
              <a:rPr lang="en-US" sz="1855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Ideal for kitchen &amp; bathroom gaps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1875770" y="6627352"/>
            <a:ext cx="6488943" cy="26151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82"/>
              </a:lnSpc>
              <a:spcBef>
                <a:spcPct val="0"/>
              </a:spcBef>
            </a:pPr>
            <a:r>
              <a:rPr lang="en-US" sz="248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✔ Crack filling and sealing</a:t>
            </a:r>
          </a:p>
          <a:p>
            <a:pPr algn="l">
              <a:lnSpc>
                <a:spcPts val="3482"/>
              </a:lnSpc>
              <a:spcBef>
                <a:spcPct val="0"/>
              </a:spcBef>
            </a:pPr>
            <a:r>
              <a:rPr lang="en-US" sz="248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✔ Rodent proofing</a:t>
            </a:r>
          </a:p>
          <a:p>
            <a:pPr algn="l">
              <a:lnSpc>
                <a:spcPts val="3482"/>
              </a:lnSpc>
              <a:spcBef>
                <a:spcPct val="0"/>
              </a:spcBef>
            </a:pPr>
            <a:r>
              <a:rPr lang="en-US" sz="248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✔ Utility penetration sealing</a:t>
            </a:r>
          </a:p>
          <a:p>
            <a:pPr algn="l">
              <a:lnSpc>
                <a:spcPts val="3482"/>
              </a:lnSpc>
              <a:spcBef>
                <a:spcPct val="0"/>
              </a:spcBef>
            </a:pPr>
            <a:r>
              <a:rPr lang="en-US" sz="248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✔ Kitchen and storage area proofing</a:t>
            </a:r>
          </a:p>
          <a:p>
            <a:pPr algn="l">
              <a:lnSpc>
                <a:spcPts val="3482"/>
              </a:lnSpc>
              <a:spcBef>
                <a:spcPct val="0"/>
              </a:spcBef>
            </a:pPr>
            <a:r>
              <a:rPr lang="en-US" sz="248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✔ Pest harbourage elimination</a:t>
            </a:r>
          </a:p>
          <a:p>
            <a:pPr algn="l">
              <a:lnSpc>
                <a:spcPts val="3482"/>
              </a:lnSpc>
              <a:spcBef>
                <a:spcPct val="0"/>
              </a:spcBef>
            </a:pPr>
            <a:r>
              <a:rPr lang="en-US" sz="248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✔ Long-term pest prevention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1643068" y="6111614"/>
            <a:ext cx="4743588" cy="4109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3076" lvl="1" indent="-266538" algn="l">
              <a:lnSpc>
                <a:spcPts val="3456"/>
              </a:lnSpc>
              <a:buFont typeface="Arial"/>
              <a:buChar char="•"/>
            </a:pPr>
            <a:r>
              <a:rPr lang="en-US" sz="246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Our Gap Sealing Solutions: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518033" y="1370925"/>
            <a:ext cx="7920818" cy="36737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80"/>
              </a:lnSpc>
              <a:spcBef>
                <a:spcPct val="0"/>
              </a:spcBef>
            </a:pPr>
            <a:r>
              <a:rPr lang="en-US" sz="3700" b="1">
                <a:solidFill>
                  <a:srgbClr val="F40505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Why Do Cockroaches Come Back?</a:t>
            </a:r>
          </a:p>
          <a:p>
            <a:pPr marL="603761" lvl="1" indent="-301880" algn="l">
              <a:lnSpc>
                <a:spcPts val="3915"/>
              </a:lnSpc>
              <a:buFont typeface="Arial"/>
              <a:buChar char="•"/>
            </a:pPr>
            <a:r>
              <a:rPr lang="en-US" sz="279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They hide inside small cracks</a:t>
            </a:r>
          </a:p>
          <a:p>
            <a:pPr marL="603761" lvl="1" indent="-301880" algn="l">
              <a:lnSpc>
                <a:spcPts val="3915"/>
              </a:lnSpc>
              <a:buFont typeface="Arial"/>
              <a:buChar char="•"/>
            </a:pPr>
            <a:r>
              <a:rPr lang="en-US" sz="279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Tile gaps &amp; cabinet joints </a:t>
            </a:r>
          </a:p>
          <a:p>
            <a:pPr marL="603761" lvl="1" indent="-301880" algn="l">
              <a:lnSpc>
                <a:spcPts val="3915"/>
              </a:lnSpc>
              <a:buFont typeface="Arial"/>
              <a:buChar char="•"/>
            </a:pPr>
            <a:r>
              <a:rPr lang="en-US" sz="279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Sink edges &amp; wall corners</a:t>
            </a:r>
          </a:p>
          <a:p>
            <a:pPr marL="603761" lvl="1" indent="-301880" algn="l">
              <a:lnSpc>
                <a:spcPts val="3915"/>
              </a:lnSpc>
              <a:buFont typeface="Arial"/>
              <a:buChar char="•"/>
            </a:pPr>
            <a:r>
              <a:rPr lang="en-US" sz="279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Deep, unreachable spaces </a:t>
            </a:r>
          </a:p>
          <a:p>
            <a:pPr algn="l">
              <a:lnSpc>
                <a:spcPts val="4231"/>
              </a:lnSpc>
            </a:pPr>
            <a:r>
              <a:rPr lang="en-US" sz="3022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Spray kills what you see… But not what hides inside.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/>
          <p:nvPr/>
        </p:nvGraphicFramePr>
        <p:xfrm>
          <a:off x="229925" y="513304"/>
          <a:ext cx="11487150" cy="7258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13779500" imgH="9550400" progId="Excel.Sheet.12">
                  <p:embed/>
                </p:oleObj>
              </mc:Choice>
              <mc:Fallback>
                <p:oleObj name="Worksheet" r:id="rId2" imgW="13779500" imgH="9550400" progId="Excel.Sheet.12">
                  <p:embed/>
                  <p:pic>
                    <p:nvPicPr>
                      <p:cNvPr id="2" name="Object 2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29925" y="513304"/>
                        <a:ext cx="11487150" cy="72580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Box 3"/>
          <p:cNvSpPr txBox="1"/>
          <p:nvPr/>
        </p:nvSpPr>
        <p:spPr>
          <a:xfrm>
            <a:off x="6995119" y="-57150"/>
            <a:ext cx="3576489" cy="5704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82"/>
              </a:lnSpc>
            </a:pPr>
            <a:r>
              <a:rPr lang="en-US" sz="3416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OUR PRODUCTS: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/>
          <p:nvPr/>
        </p:nvGraphicFramePr>
        <p:xfrm>
          <a:off x="208509" y="396764"/>
          <a:ext cx="11487150" cy="6472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13779500" imgH="8763000" progId="Excel.Sheet.12">
                  <p:embed/>
                </p:oleObj>
              </mc:Choice>
              <mc:Fallback>
                <p:oleObj name="Worksheet" r:id="rId2" imgW="13779500" imgH="8763000" progId="Excel.Sheet.12">
                  <p:embed/>
                  <p:pic>
                    <p:nvPicPr>
                      <p:cNvPr id="2" name="Object 2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08509" y="396764"/>
                        <a:ext cx="11487150" cy="64722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19262" y="1233426"/>
            <a:ext cx="2557482" cy="925985"/>
          </a:xfrm>
          <a:custGeom>
            <a:avLst/>
            <a:gdLst/>
            <a:ahLst/>
            <a:cxnLst/>
            <a:rect l="l" t="t" r="r" b="b"/>
            <a:pathLst>
              <a:path w="2557482" h="925985">
                <a:moveTo>
                  <a:pt x="0" y="0"/>
                </a:moveTo>
                <a:lnTo>
                  <a:pt x="2557482" y="0"/>
                </a:lnTo>
                <a:lnTo>
                  <a:pt x="2557482" y="925985"/>
                </a:lnTo>
                <a:lnTo>
                  <a:pt x="0" y="92598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518780" y="2911392"/>
            <a:ext cx="4031045" cy="2685828"/>
          </a:xfrm>
          <a:custGeom>
            <a:avLst/>
            <a:gdLst/>
            <a:ahLst/>
            <a:cxnLst/>
            <a:rect l="l" t="t" r="r" b="b"/>
            <a:pathLst>
              <a:path w="4031045" h="2685828">
                <a:moveTo>
                  <a:pt x="0" y="0"/>
                </a:moveTo>
                <a:lnTo>
                  <a:pt x="4031045" y="0"/>
                </a:lnTo>
                <a:lnTo>
                  <a:pt x="4031045" y="2685828"/>
                </a:lnTo>
                <a:lnTo>
                  <a:pt x="0" y="268582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389515" y="6198797"/>
            <a:ext cx="5412123" cy="2706062"/>
          </a:xfrm>
          <a:custGeom>
            <a:avLst/>
            <a:gdLst/>
            <a:ahLst/>
            <a:cxnLst/>
            <a:rect l="l" t="t" r="r" b="b"/>
            <a:pathLst>
              <a:path w="5412123" h="2706062">
                <a:moveTo>
                  <a:pt x="0" y="0"/>
                </a:moveTo>
                <a:lnTo>
                  <a:pt x="5412123" y="0"/>
                </a:lnTo>
                <a:lnTo>
                  <a:pt x="5412123" y="2706061"/>
                </a:lnTo>
                <a:lnTo>
                  <a:pt x="0" y="27060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333025" y="2562692"/>
            <a:ext cx="2557520" cy="673480"/>
          </a:xfrm>
          <a:custGeom>
            <a:avLst/>
            <a:gdLst/>
            <a:ahLst/>
            <a:cxnLst/>
            <a:rect l="l" t="t" r="r" b="b"/>
            <a:pathLst>
              <a:path w="2557520" h="673480">
                <a:moveTo>
                  <a:pt x="0" y="0"/>
                </a:moveTo>
                <a:lnTo>
                  <a:pt x="2557520" y="0"/>
                </a:lnTo>
                <a:lnTo>
                  <a:pt x="2557520" y="673481"/>
                </a:lnTo>
                <a:lnTo>
                  <a:pt x="0" y="67348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485213" y="7949269"/>
            <a:ext cx="2406755" cy="2406755"/>
          </a:xfrm>
          <a:custGeom>
            <a:avLst/>
            <a:gdLst/>
            <a:ahLst/>
            <a:cxnLst/>
            <a:rect l="l" t="t" r="r" b="b"/>
            <a:pathLst>
              <a:path w="2406755" h="2406755">
                <a:moveTo>
                  <a:pt x="0" y="0"/>
                </a:moveTo>
                <a:lnTo>
                  <a:pt x="2406755" y="0"/>
                </a:lnTo>
                <a:lnTo>
                  <a:pt x="2406755" y="2406755"/>
                </a:lnTo>
                <a:lnTo>
                  <a:pt x="0" y="240675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2891968" y="8416796"/>
            <a:ext cx="3270448" cy="1471702"/>
          </a:xfrm>
          <a:custGeom>
            <a:avLst/>
            <a:gdLst/>
            <a:ahLst/>
            <a:cxnLst/>
            <a:rect l="l" t="t" r="r" b="b"/>
            <a:pathLst>
              <a:path w="3270448" h="1471702">
                <a:moveTo>
                  <a:pt x="0" y="0"/>
                </a:moveTo>
                <a:lnTo>
                  <a:pt x="3270448" y="0"/>
                </a:lnTo>
                <a:lnTo>
                  <a:pt x="3270448" y="1471702"/>
                </a:lnTo>
                <a:lnTo>
                  <a:pt x="0" y="147170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2726017" y="5143500"/>
            <a:ext cx="1684221" cy="2157899"/>
          </a:xfrm>
          <a:custGeom>
            <a:avLst/>
            <a:gdLst/>
            <a:ahLst/>
            <a:cxnLst/>
            <a:rect l="l" t="t" r="r" b="b"/>
            <a:pathLst>
              <a:path w="1684221" h="2157899">
                <a:moveTo>
                  <a:pt x="0" y="0"/>
                </a:moveTo>
                <a:lnTo>
                  <a:pt x="1684221" y="0"/>
                </a:lnTo>
                <a:lnTo>
                  <a:pt x="1684221" y="2157899"/>
                </a:lnTo>
                <a:lnTo>
                  <a:pt x="0" y="215789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64155" r="-64155"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3280777" y="1254503"/>
            <a:ext cx="1741831" cy="2214192"/>
          </a:xfrm>
          <a:custGeom>
            <a:avLst/>
            <a:gdLst/>
            <a:ahLst/>
            <a:cxnLst/>
            <a:rect l="l" t="t" r="r" b="b"/>
            <a:pathLst>
              <a:path w="1741831" h="2214192">
                <a:moveTo>
                  <a:pt x="0" y="0"/>
                </a:moveTo>
                <a:lnTo>
                  <a:pt x="1741831" y="0"/>
                </a:lnTo>
                <a:lnTo>
                  <a:pt x="1741831" y="2214192"/>
                </a:lnTo>
                <a:lnTo>
                  <a:pt x="0" y="221419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319262" y="5369856"/>
            <a:ext cx="2029271" cy="1181632"/>
          </a:xfrm>
          <a:custGeom>
            <a:avLst/>
            <a:gdLst/>
            <a:ahLst/>
            <a:cxnLst/>
            <a:rect l="l" t="t" r="r" b="b"/>
            <a:pathLst>
              <a:path w="2029271" h="1181632">
                <a:moveTo>
                  <a:pt x="0" y="0"/>
                </a:moveTo>
                <a:lnTo>
                  <a:pt x="2029272" y="0"/>
                </a:lnTo>
                <a:lnTo>
                  <a:pt x="2029272" y="1181632"/>
                </a:lnTo>
                <a:lnTo>
                  <a:pt x="0" y="118163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33106" t="-23817" r="-35343" b="-41488"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4791238" y="5143500"/>
            <a:ext cx="2218799" cy="1850181"/>
          </a:xfrm>
          <a:custGeom>
            <a:avLst/>
            <a:gdLst/>
            <a:ahLst/>
            <a:cxnLst/>
            <a:rect l="l" t="t" r="r" b="b"/>
            <a:pathLst>
              <a:path w="2218799" h="1850181">
                <a:moveTo>
                  <a:pt x="0" y="0"/>
                </a:moveTo>
                <a:lnTo>
                  <a:pt x="2218799" y="0"/>
                </a:lnTo>
                <a:lnTo>
                  <a:pt x="2218799" y="1850181"/>
                </a:lnTo>
                <a:lnTo>
                  <a:pt x="0" y="1850181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-61110" t="-19239" r="-61499" b="-44091"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5556927" y="1212028"/>
            <a:ext cx="2052183" cy="2512247"/>
          </a:xfrm>
          <a:custGeom>
            <a:avLst/>
            <a:gdLst/>
            <a:ahLst/>
            <a:cxnLst/>
            <a:rect l="l" t="t" r="r" b="b"/>
            <a:pathLst>
              <a:path w="2052183" h="2512247">
                <a:moveTo>
                  <a:pt x="0" y="0"/>
                </a:moveTo>
                <a:lnTo>
                  <a:pt x="2052184" y="0"/>
                </a:lnTo>
                <a:lnTo>
                  <a:pt x="2052184" y="2512247"/>
                </a:lnTo>
                <a:lnTo>
                  <a:pt x="0" y="2512247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-86667" t="-14126" r="-85378" b="-10876"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8490650" y="6891383"/>
            <a:ext cx="5465256" cy="1077111"/>
          </a:xfrm>
          <a:custGeom>
            <a:avLst/>
            <a:gdLst/>
            <a:ahLst/>
            <a:cxnLst/>
            <a:rect l="l" t="t" r="r" b="b"/>
            <a:pathLst>
              <a:path w="5465256" h="1077111">
                <a:moveTo>
                  <a:pt x="0" y="0"/>
                </a:moveTo>
                <a:lnTo>
                  <a:pt x="5465255" y="0"/>
                </a:lnTo>
                <a:lnTo>
                  <a:pt x="5465255" y="1077110"/>
                </a:lnTo>
                <a:lnTo>
                  <a:pt x="0" y="107711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9473555" y="2504940"/>
            <a:ext cx="4200035" cy="1749365"/>
          </a:xfrm>
          <a:custGeom>
            <a:avLst/>
            <a:gdLst/>
            <a:ahLst/>
            <a:cxnLst/>
            <a:rect l="l" t="t" r="r" b="b"/>
            <a:pathLst>
              <a:path w="4200035" h="1749365">
                <a:moveTo>
                  <a:pt x="0" y="0"/>
                </a:moveTo>
                <a:lnTo>
                  <a:pt x="4200036" y="0"/>
                </a:lnTo>
                <a:lnTo>
                  <a:pt x="4200036" y="1749366"/>
                </a:lnTo>
                <a:lnTo>
                  <a:pt x="0" y="1749366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t="-74305" b="-65783"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14787860" y="2712119"/>
            <a:ext cx="3536292" cy="1542187"/>
          </a:xfrm>
          <a:custGeom>
            <a:avLst/>
            <a:gdLst/>
            <a:ahLst/>
            <a:cxnLst/>
            <a:rect l="l" t="t" r="r" b="b"/>
            <a:pathLst>
              <a:path w="3536292" h="1542187">
                <a:moveTo>
                  <a:pt x="0" y="0"/>
                </a:moveTo>
                <a:lnTo>
                  <a:pt x="3536292" y="0"/>
                </a:lnTo>
                <a:lnTo>
                  <a:pt x="3536292" y="1542187"/>
                </a:lnTo>
                <a:lnTo>
                  <a:pt x="0" y="1542187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-64103" t="-88536" r="-48495" b="-85680"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4527192" y="6949757"/>
            <a:ext cx="3405632" cy="1911178"/>
          </a:xfrm>
          <a:custGeom>
            <a:avLst/>
            <a:gdLst/>
            <a:ahLst/>
            <a:cxnLst/>
            <a:rect l="l" t="t" r="r" b="b"/>
            <a:pathLst>
              <a:path w="3405632" h="1911178">
                <a:moveTo>
                  <a:pt x="0" y="0"/>
                </a:moveTo>
                <a:lnTo>
                  <a:pt x="3405632" y="0"/>
                </a:lnTo>
                <a:lnTo>
                  <a:pt x="3405632" y="1911177"/>
                </a:lnTo>
                <a:lnTo>
                  <a:pt x="0" y="1911177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3512265" y="3317494"/>
            <a:ext cx="5300301" cy="1873623"/>
          </a:xfrm>
          <a:custGeom>
            <a:avLst/>
            <a:gdLst/>
            <a:ahLst/>
            <a:cxnLst/>
            <a:rect l="l" t="t" r="r" b="b"/>
            <a:pathLst>
              <a:path w="5300301" h="1873623">
                <a:moveTo>
                  <a:pt x="0" y="0"/>
                </a:moveTo>
                <a:lnTo>
                  <a:pt x="5300302" y="0"/>
                </a:lnTo>
                <a:lnTo>
                  <a:pt x="5300302" y="1873623"/>
                </a:lnTo>
                <a:lnTo>
                  <a:pt x="0" y="1873623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t="-91078" b="-91812"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6230008" y="8387267"/>
            <a:ext cx="3500451" cy="1968758"/>
          </a:xfrm>
          <a:custGeom>
            <a:avLst/>
            <a:gdLst/>
            <a:ahLst/>
            <a:cxnLst/>
            <a:rect l="l" t="t" r="r" b="b"/>
            <a:pathLst>
              <a:path w="3500451" h="1968758">
                <a:moveTo>
                  <a:pt x="0" y="0"/>
                </a:moveTo>
                <a:lnTo>
                  <a:pt x="3500451" y="0"/>
                </a:lnTo>
                <a:lnTo>
                  <a:pt x="3500451" y="1968757"/>
                </a:lnTo>
                <a:lnTo>
                  <a:pt x="0" y="1968757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14760021" y="321819"/>
            <a:ext cx="2669577" cy="1865367"/>
          </a:xfrm>
          <a:custGeom>
            <a:avLst/>
            <a:gdLst/>
            <a:ahLst/>
            <a:cxnLst/>
            <a:rect l="l" t="t" r="r" b="b"/>
            <a:pathLst>
              <a:path w="2669577" h="1865367">
                <a:moveTo>
                  <a:pt x="0" y="0"/>
                </a:moveTo>
                <a:lnTo>
                  <a:pt x="2669577" y="0"/>
                </a:lnTo>
                <a:lnTo>
                  <a:pt x="2669577" y="1865367"/>
                </a:lnTo>
                <a:lnTo>
                  <a:pt x="0" y="1865367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7980234" y="4963086"/>
            <a:ext cx="3499445" cy="1219517"/>
          </a:xfrm>
          <a:custGeom>
            <a:avLst/>
            <a:gdLst/>
            <a:ahLst/>
            <a:cxnLst/>
            <a:rect l="l" t="t" r="r" b="b"/>
            <a:pathLst>
              <a:path w="3499445" h="1219517">
                <a:moveTo>
                  <a:pt x="0" y="0"/>
                </a:moveTo>
                <a:lnTo>
                  <a:pt x="3499444" y="0"/>
                </a:lnTo>
                <a:lnTo>
                  <a:pt x="3499444" y="1219516"/>
                </a:lnTo>
                <a:lnTo>
                  <a:pt x="0" y="1219516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l="-13985" t="-111083" r="-11093" b="-147837"/>
            </a:stretch>
          </a:blipFill>
        </p:spPr>
      </p:sp>
      <p:sp>
        <p:nvSpPr>
          <p:cNvPr id="21" name="Freeform 21"/>
          <p:cNvSpPr/>
          <p:nvPr/>
        </p:nvSpPr>
        <p:spPr>
          <a:xfrm>
            <a:off x="15220575" y="4540763"/>
            <a:ext cx="2784328" cy="1309284"/>
          </a:xfrm>
          <a:custGeom>
            <a:avLst/>
            <a:gdLst/>
            <a:ahLst/>
            <a:cxnLst/>
            <a:rect l="l" t="t" r="r" b="b"/>
            <a:pathLst>
              <a:path w="2784328" h="1309284">
                <a:moveTo>
                  <a:pt x="0" y="0"/>
                </a:moveTo>
                <a:lnTo>
                  <a:pt x="2784329" y="0"/>
                </a:lnTo>
                <a:lnTo>
                  <a:pt x="2784329" y="1309283"/>
                </a:lnTo>
                <a:lnTo>
                  <a:pt x="0" y="1309283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 t="-11883" b="-7706"/>
            </a:stretch>
          </a:blipFill>
        </p:spPr>
      </p:sp>
      <p:sp>
        <p:nvSpPr>
          <p:cNvPr id="22" name="Freeform 22"/>
          <p:cNvSpPr/>
          <p:nvPr/>
        </p:nvSpPr>
        <p:spPr>
          <a:xfrm>
            <a:off x="11937653" y="4540763"/>
            <a:ext cx="3178374" cy="2010725"/>
          </a:xfrm>
          <a:custGeom>
            <a:avLst/>
            <a:gdLst/>
            <a:ahLst/>
            <a:cxnLst/>
            <a:rect l="l" t="t" r="r" b="b"/>
            <a:pathLst>
              <a:path w="3178374" h="2010725">
                <a:moveTo>
                  <a:pt x="0" y="0"/>
                </a:moveTo>
                <a:lnTo>
                  <a:pt x="3178373" y="0"/>
                </a:lnTo>
                <a:lnTo>
                  <a:pt x="3178373" y="2010725"/>
                </a:lnTo>
                <a:lnTo>
                  <a:pt x="0" y="2010725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 l="-16681" t="-45036" r="-12733" b="-45947"/>
            </a:stretch>
          </a:blipFill>
        </p:spPr>
      </p:sp>
      <p:sp>
        <p:nvSpPr>
          <p:cNvPr id="23" name="Freeform 23"/>
          <p:cNvSpPr/>
          <p:nvPr/>
        </p:nvSpPr>
        <p:spPr>
          <a:xfrm>
            <a:off x="7856106" y="490771"/>
            <a:ext cx="2833772" cy="1864386"/>
          </a:xfrm>
          <a:custGeom>
            <a:avLst/>
            <a:gdLst/>
            <a:ahLst/>
            <a:cxnLst/>
            <a:rect l="l" t="t" r="r" b="b"/>
            <a:pathLst>
              <a:path w="2833772" h="1864386">
                <a:moveTo>
                  <a:pt x="0" y="0"/>
                </a:moveTo>
                <a:lnTo>
                  <a:pt x="2833772" y="0"/>
                </a:lnTo>
                <a:lnTo>
                  <a:pt x="2833772" y="1864385"/>
                </a:lnTo>
                <a:lnTo>
                  <a:pt x="0" y="1864385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/>
            </a:stretch>
          </a:blipFill>
        </p:spPr>
      </p:sp>
      <p:sp>
        <p:nvSpPr>
          <p:cNvPr id="24" name="Freeform 24"/>
          <p:cNvSpPr/>
          <p:nvPr/>
        </p:nvSpPr>
        <p:spPr>
          <a:xfrm>
            <a:off x="10976283" y="729943"/>
            <a:ext cx="3081919" cy="693020"/>
          </a:xfrm>
          <a:custGeom>
            <a:avLst/>
            <a:gdLst/>
            <a:ahLst/>
            <a:cxnLst/>
            <a:rect l="l" t="t" r="r" b="b"/>
            <a:pathLst>
              <a:path w="3081919" h="693020">
                <a:moveTo>
                  <a:pt x="0" y="0"/>
                </a:moveTo>
                <a:lnTo>
                  <a:pt x="3081918" y="0"/>
                </a:lnTo>
                <a:lnTo>
                  <a:pt x="3081918" y="693020"/>
                </a:lnTo>
                <a:lnTo>
                  <a:pt x="0" y="693020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>
              <a:fillRect l="-24477" t="-123540" r="-25494" b="-125490"/>
            </a:stretch>
          </a:blipFill>
        </p:spPr>
      </p:sp>
      <p:sp>
        <p:nvSpPr>
          <p:cNvPr id="25" name="Freeform 25"/>
          <p:cNvSpPr/>
          <p:nvPr/>
        </p:nvSpPr>
        <p:spPr>
          <a:xfrm>
            <a:off x="10482961" y="8172046"/>
            <a:ext cx="3575241" cy="2052361"/>
          </a:xfrm>
          <a:custGeom>
            <a:avLst/>
            <a:gdLst/>
            <a:ahLst/>
            <a:cxnLst/>
            <a:rect l="l" t="t" r="r" b="b"/>
            <a:pathLst>
              <a:path w="3575241" h="2052361">
                <a:moveTo>
                  <a:pt x="0" y="0"/>
                </a:moveTo>
                <a:lnTo>
                  <a:pt x="3575240" y="0"/>
                </a:lnTo>
                <a:lnTo>
                  <a:pt x="3575240" y="2052361"/>
                </a:lnTo>
                <a:lnTo>
                  <a:pt x="0" y="2052361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>
              <a:fillRect t="-40155" b="-34045"/>
            </a:stretch>
          </a:blipFill>
        </p:spPr>
      </p:sp>
      <p:sp>
        <p:nvSpPr>
          <p:cNvPr id="26" name="Freeform 26"/>
          <p:cNvSpPr/>
          <p:nvPr/>
        </p:nvSpPr>
        <p:spPr>
          <a:xfrm>
            <a:off x="15116026" y="5597220"/>
            <a:ext cx="2993427" cy="2993427"/>
          </a:xfrm>
          <a:custGeom>
            <a:avLst/>
            <a:gdLst/>
            <a:ahLst/>
            <a:cxnLst/>
            <a:rect l="l" t="t" r="r" b="b"/>
            <a:pathLst>
              <a:path w="2993427" h="2993427">
                <a:moveTo>
                  <a:pt x="0" y="0"/>
                </a:moveTo>
                <a:lnTo>
                  <a:pt x="2993427" y="0"/>
                </a:lnTo>
                <a:lnTo>
                  <a:pt x="2993427" y="2993426"/>
                </a:lnTo>
                <a:lnTo>
                  <a:pt x="0" y="2993426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>
              <a:fillRect/>
            </a:stretch>
          </a:blipFill>
        </p:spPr>
      </p:sp>
      <p:sp>
        <p:nvSpPr>
          <p:cNvPr id="27" name="Freeform 27"/>
          <p:cNvSpPr/>
          <p:nvPr/>
        </p:nvSpPr>
        <p:spPr>
          <a:xfrm>
            <a:off x="15061914" y="8172046"/>
            <a:ext cx="2988182" cy="1716452"/>
          </a:xfrm>
          <a:custGeom>
            <a:avLst/>
            <a:gdLst/>
            <a:ahLst/>
            <a:cxnLst/>
            <a:rect l="l" t="t" r="r" b="b"/>
            <a:pathLst>
              <a:path w="2988182" h="1716452">
                <a:moveTo>
                  <a:pt x="0" y="0"/>
                </a:moveTo>
                <a:lnTo>
                  <a:pt x="2988183" y="0"/>
                </a:lnTo>
                <a:lnTo>
                  <a:pt x="2988183" y="1716452"/>
                </a:lnTo>
                <a:lnTo>
                  <a:pt x="0" y="1716452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>
              <a:fillRect l="-8552" t="-46723" r="-9469" b="-45043"/>
            </a:stretch>
          </a:blipFill>
        </p:spPr>
      </p:sp>
      <p:sp>
        <p:nvSpPr>
          <p:cNvPr id="28" name="TextBox 28"/>
          <p:cNvSpPr txBox="1"/>
          <p:nvPr/>
        </p:nvSpPr>
        <p:spPr>
          <a:xfrm>
            <a:off x="207365" y="245619"/>
            <a:ext cx="6721525" cy="679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72"/>
              </a:lnSpc>
              <a:spcBef>
                <a:spcPct val="0"/>
              </a:spcBef>
            </a:pPr>
            <a:r>
              <a:rPr lang="en-US" sz="3980" b="1" u="sng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Trusted By Leading Brands: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254607" y="0"/>
            <a:ext cx="6364346" cy="10529576"/>
          </a:xfrm>
          <a:custGeom>
            <a:avLst/>
            <a:gdLst/>
            <a:ahLst/>
            <a:cxnLst/>
            <a:rect l="l" t="t" r="r" b="b"/>
            <a:pathLst>
              <a:path w="6364346" h="10529576">
                <a:moveTo>
                  <a:pt x="0" y="0"/>
                </a:moveTo>
                <a:lnTo>
                  <a:pt x="6364346" y="0"/>
                </a:lnTo>
                <a:lnTo>
                  <a:pt x="6364346" y="10529576"/>
                </a:lnTo>
                <a:lnTo>
                  <a:pt x="0" y="1052957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66780" r="-62999" b="-52156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6684528" y="6748170"/>
            <a:ext cx="9483183" cy="375080"/>
            <a:chOff x="0" y="0"/>
            <a:chExt cx="6987032" cy="27635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987032" cy="276352"/>
            </a:xfrm>
            <a:custGeom>
              <a:avLst/>
              <a:gdLst/>
              <a:ahLst/>
              <a:cxnLst/>
              <a:rect l="l" t="t" r="r" b="b"/>
              <a:pathLst>
                <a:path w="6987032" h="276352">
                  <a:moveTo>
                    <a:pt x="0" y="0"/>
                  </a:moveTo>
                  <a:lnTo>
                    <a:pt x="6987032" y="0"/>
                  </a:lnTo>
                  <a:lnTo>
                    <a:pt x="6987032" y="276352"/>
                  </a:lnTo>
                  <a:lnTo>
                    <a:pt x="0" y="2763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203" t="-5886" b="-4779"/>
              </a:stretch>
            </a:blipFill>
          </p:spPr>
        </p:sp>
      </p:grpSp>
      <p:sp>
        <p:nvSpPr>
          <p:cNvPr id="5" name="TextBox 5"/>
          <p:cNvSpPr txBox="1"/>
          <p:nvPr/>
        </p:nvSpPr>
        <p:spPr>
          <a:xfrm>
            <a:off x="166369" y="182878"/>
            <a:ext cx="13785812" cy="11468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30"/>
              </a:lnSpc>
            </a:pPr>
            <a:r>
              <a:rPr lang="en-US" sz="3307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OUR </a:t>
            </a:r>
          </a:p>
          <a:p>
            <a:pPr algn="l">
              <a:lnSpc>
                <a:spcPts val="4630"/>
              </a:lnSpc>
            </a:pPr>
            <a:r>
              <a:rPr lang="en-US" sz="3307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SERVICES:</a:t>
            </a:r>
          </a:p>
        </p:txBody>
      </p:sp>
      <p:sp>
        <p:nvSpPr>
          <p:cNvPr id="6" name="Freeform 6"/>
          <p:cNvSpPr/>
          <p:nvPr/>
        </p:nvSpPr>
        <p:spPr>
          <a:xfrm>
            <a:off x="10086529" y="565689"/>
            <a:ext cx="7480149" cy="4577811"/>
          </a:xfrm>
          <a:custGeom>
            <a:avLst/>
            <a:gdLst/>
            <a:ahLst/>
            <a:cxnLst/>
            <a:rect l="l" t="t" r="r" b="b"/>
            <a:pathLst>
              <a:path w="7480149" h="4577811">
                <a:moveTo>
                  <a:pt x="0" y="0"/>
                </a:moveTo>
                <a:lnTo>
                  <a:pt x="7480149" y="0"/>
                </a:lnTo>
                <a:lnTo>
                  <a:pt x="7480149" y="4577811"/>
                </a:lnTo>
                <a:lnTo>
                  <a:pt x="0" y="457781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1999"/>
            </a:blip>
            <a:stretch>
              <a:fillRect l="-8749" t="-12916" r="-31596" b="-148223"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6838314" y="1329705"/>
            <a:ext cx="3318326" cy="3662585"/>
          </a:xfrm>
          <a:custGeom>
            <a:avLst/>
            <a:gdLst/>
            <a:ahLst/>
            <a:cxnLst/>
            <a:rect l="l" t="t" r="r" b="b"/>
            <a:pathLst>
              <a:path w="3318326" h="3662585">
                <a:moveTo>
                  <a:pt x="0" y="0"/>
                </a:moveTo>
                <a:lnTo>
                  <a:pt x="3318327" y="0"/>
                </a:lnTo>
                <a:lnTo>
                  <a:pt x="3318327" y="3662586"/>
                </a:lnTo>
                <a:lnTo>
                  <a:pt x="0" y="366258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60000"/>
            </a:blip>
            <a:stretch>
              <a:fillRect l="-35545" t="-62330" r="-29409" b="-66859"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6684528" y="5774167"/>
            <a:ext cx="3625900" cy="679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77"/>
              </a:lnSpc>
            </a:pPr>
            <a:r>
              <a:rPr lang="en-US" sz="3626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CONTACT DETAILS: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2053603" y="6711175"/>
            <a:ext cx="63571" cy="4028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40"/>
              </a:lnSpc>
            </a:pPr>
            <a:r>
              <a:rPr lang="en-US" sz="217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377601" y="6711175"/>
            <a:ext cx="63571" cy="4028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40"/>
              </a:lnSpc>
            </a:pPr>
            <a:r>
              <a:rPr lang="en-US" sz="217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684528" y="6567876"/>
            <a:ext cx="12284906" cy="5461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20"/>
              </a:lnSpc>
            </a:pPr>
            <a:r>
              <a:rPr lang="en-US" sz="287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S-5 Khira Industrial Estate,B.M.BhargavRoad,Santacruz(W), Mumbai - 400054 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984159" y="7322255"/>
            <a:ext cx="6582519" cy="23108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980"/>
              </a:lnSpc>
            </a:pPr>
            <a:r>
              <a:rPr lang="en-US" sz="427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Tel: 61386600 Fax: 61386601 </a:t>
            </a:r>
          </a:p>
          <a:p>
            <a:pPr algn="l">
              <a:lnSpc>
                <a:spcPts val="5980"/>
              </a:lnSpc>
            </a:pPr>
            <a:r>
              <a:rPr lang="en-US" sz="427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Email:</a:t>
            </a:r>
            <a:r>
              <a:rPr lang="en-US" sz="427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  <a:hlinkClick r:id="rId6" tooltip="mailto:epcorn@yahoo.in"/>
              </a:rPr>
              <a:t> </a:t>
            </a:r>
            <a:r>
              <a:rPr lang="en-US" sz="4271">
                <a:solidFill>
                  <a:srgbClr val="0563C1"/>
                </a:solidFill>
                <a:latin typeface="Calibri (MS)"/>
                <a:ea typeface="Calibri (MS)"/>
                <a:cs typeface="Calibri (MS)"/>
                <a:sym typeface="Calibri (MS)"/>
                <a:hlinkClick r:id="rId6" tooltip="mailto:epcorn@yahoo.in"/>
              </a:rPr>
              <a:t>epcorn@yahoo.in</a:t>
            </a:r>
          </a:p>
          <a:p>
            <a:pPr algn="l">
              <a:lnSpc>
                <a:spcPts val="5980"/>
              </a:lnSpc>
            </a:pPr>
            <a:r>
              <a:rPr lang="en-US" sz="427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Visit: www.epcorn.com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</TotalTime>
  <Words>764</Words>
  <Application>Microsoft Office PowerPoint</Application>
  <PresentationFormat>Custom</PresentationFormat>
  <Paragraphs>96</Paragraphs>
  <Slides>15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Arial</vt:lpstr>
      <vt:lpstr>Canva Sans</vt:lpstr>
      <vt:lpstr>Canva Sans Bold</vt:lpstr>
      <vt:lpstr>Calibri</vt:lpstr>
      <vt:lpstr>Calibri (MS) Bold</vt:lpstr>
      <vt:lpstr>Calibri (MS)</vt:lpstr>
      <vt:lpstr>Office Theme</vt:lpstr>
      <vt:lpstr>Worksheet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Fairfeild by Marriot Audit Report.RQAE</dc:title>
  <cp:lastModifiedBy>mayur@epcorn.com</cp:lastModifiedBy>
  <cp:revision>1</cp:revision>
  <dcterms:created xsi:type="dcterms:W3CDTF">2006-08-16T00:00:00Z</dcterms:created>
  <dcterms:modified xsi:type="dcterms:W3CDTF">2026-08-26T10:04:50Z</dcterms:modified>
  <dc:identifier>DAHSKkGuSqM</dc:identifier>
</cp:coreProperties>
</file>