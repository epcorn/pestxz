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libri (MS)" panose="020B0604020202020204" charset="0"/>
      <p:regular r:id="rId17"/>
    </p:embeddedFont>
    <p:embeddedFont>
      <p:font typeface="Calibri (MS) Bold" panose="020B0604020202020204" charset="0"/>
      <p:regular r:id="rId18"/>
    </p:embeddedFont>
    <p:embeddedFont>
      <p:font typeface="Canva Sans" panose="020B0604020202020204" charset="0"/>
      <p:regular r:id="rId19"/>
    </p:embeddedFont>
    <p:embeddedFont>
      <p:font typeface="Canva Sans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935CCB-463C-457E-9E67-EA440695B115}" v="3" dt="2026-08-26T07:16:22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1339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yur@epcorn.com" userId="8d857f4fd2d1f3c9" providerId="LiveId" clId="{4D9048F2-F110-4217-BA19-6873865FC429}"/>
    <pc:docChg chg="undo custSel modSld">
      <pc:chgData name="mayur@epcorn.com" userId="8d857f4fd2d1f3c9" providerId="LiveId" clId="{4D9048F2-F110-4217-BA19-6873865FC429}" dt="2026-08-26T11:12:47.994" v="347" actId="113"/>
      <pc:docMkLst>
        <pc:docMk/>
      </pc:docMkLst>
      <pc:sldChg chg="modSp mod">
        <pc:chgData name="mayur@epcorn.com" userId="8d857f4fd2d1f3c9" providerId="LiveId" clId="{4D9048F2-F110-4217-BA19-6873865FC429}" dt="2026-08-26T11:12:47.994" v="347" actId="113"/>
        <pc:sldMkLst>
          <pc:docMk/>
          <pc:sldMk cId="0" sldId="256"/>
        </pc:sldMkLst>
        <pc:spChg chg="mod">
          <ac:chgData name="mayur@epcorn.com" userId="8d857f4fd2d1f3c9" providerId="LiveId" clId="{4D9048F2-F110-4217-BA19-6873865FC429}" dt="2026-08-26T11:12:47.994" v="347" actId="113"/>
          <ac:spMkLst>
            <pc:docMk/>
            <pc:sldMk cId="0" sldId="256"/>
            <ac:spMk id="2" creationId="{00000000-0000-0000-0000-000000000000}"/>
          </ac:spMkLst>
        </pc:spChg>
      </pc:sldChg>
      <pc:sldChg chg="addSp delSp modSp mod">
        <pc:chgData name="mayur@epcorn.com" userId="8d857f4fd2d1f3c9" providerId="LiveId" clId="{4D9048F2-F110-4217-BA19-6873865FC429}" dt="2026-08-26T08:02:22.717" v="250" actId="1076"/>
        <pc:sldMkLst>
          <pc:docMk/>
          <pc:sldMk cId="0" sldId="257"/>
        </pc:sldMkLst>
        <pc:spChg chg="mod">
          <ac:chgData name="mayur@epcorn.com" userId="8d857f4fd2d1f3c9" providerId="LiveId" clId="{4D9048F2-F110-4217-BA19-6873865FC429}" dt="2026-08-25T11:06:34.910" v="105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6:30.505" v="46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6:22.577" v="45" actId="14100"/>
          <ac:spMkLst>
            <pc:docMk/>
            <pc:sldMk cId="0" sldId="257"/>
            <ac:spMk id="5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6:44.548" v="48" actId="1076"/>
          <ac:spMkLst>
            <pc:docMk/>
            <pc:sldMk cId="0" sldId="257"/>
            <ac:spMk id="6" creationId="{00000000-0000-0000-0000-000000000000}"/>
          </ac:spMkLst>
        </pc:spChg>
        <pc:spChg chg="add mod">
          <ac:chgData name="mayur@epcorn.com" userId="8d857f4fd2d1f3c9" providerId="LiveId" clId="{4D9048F2-F110-4217-BA19-6873865FC429}" dt="2026-08-26T07:23:21.181" v="249" actId="1076"/>
          <ac:spMkLst>
            <pc:docMk/>
            <pc:sldMk cId="0" sldId="257"/>
            <ac:spMk id="7" creationId="{90EDB2C0-6E21-DADB-218C-4E1CC3899669}"/>
          </ac:spMkLst>
        </pc:spChg>
        <pc:spChg chg="add del mod">
          <ac:chgData name="mayur@epcorn.com" userId="8d857f4fd2d1f3c9" providerId="LiveId" clId="{4D9048F2-F110-4217-BA19-6873865FC429}" dt="2026-08-26T07:14:58.972" v="184" actId="478"/>
          <ac:spMkLst>
            <pc:docMk/>
            <pc:sldMk cId="0" sldId="257"/>
            <ac:spMk id="9" creationId="{5C453862-95EA-10B2-7A68-C601CB8CD8FC}"/>
          </ac:spMkLst>
        </pc:spChg>
        <pc:spChg chg="add mod">
          <ac:chgData name="mayur@epcorn.com" userId="8d857f4fd2d1f3c9" providerId="LiveId" clId="{4D9048F2-F110-4217-BA19-6873865FC429}" dt="2026-08-26T08:02:22.717" v="250" actId="1076"/>
          <ac:spMkLst>
            <pc:docMk/>
            <pc:sldMk cId="0" sldId="257"/>
            <ac:spMk id="10" creationId="{78BB24B0-335D-F5A3-AB70-86DBAECBBE94}"/>
          </ac:spMkLst>
        </pc:spChg>
        <pc:spChg chg="add del mod">
          <ac:chgData name="mayur@epcorn.com" userId="8d857f4fd2d1f3c9" providerId="LiveId" clId="{4D9048F2-F110-4217-BA19-6873865FC429}" dt="2026-08-26T07:14:58.972" v="184" actId="478"/>
          <ac:spMkLst>
            <pc:docMk/>
            <pc:sldMk cId="0" sldId="257"/>
            <ac:spMk id="11" creationId="{42CFA54E-70DB-A6AB-ECE6-E7E791B7E386}"/>
          </ac:spMkLst>
        </pc:spChg>
        <pc:spChg chg="add del mod">
          <ac:chgData name="mayur@epcorn.com" userId="8d857f4fd2d1f3c9" providerId="LiveId" clId="{4D9048F2-F110-4217-BA19-6873865FC429}" dt="2026-08-26T07:14:58.972" v="184" actId="478"/>
          <ac:spMkLst>
            <pc:docMk/>
            <pc:sldMk cId="0" sldId="257"/>
            <ac:spMk id="13" creationId="{9028FEC1-5B9D-129B-4467-B0CFF2C2A430}"/>
          </ac:spMkLst>
        </pc:spChg>
        <pc:spChg chg="add mod">
          <ac:chgData name="mayur@epcorn.com" userId="8d857f4fd2d1f3c9" providerId="LiveId" clId="{4D9048F2-F110-4217-BA19-6873865FC429}" dt="2026-08-26T07:17:36.195" v="247" actId="20577"/>
          <ac:spMkLst>
            <pc:docMk/>
            <pc:sldMk cId="0" sldId="257"/>
            <ac:spMk id="14" creationId="{37216BCA-7601-D43D-F480-8AEF89CC3095}"/>
          </ac:spMkLst>
        </pc:spChg>
        <pc:spChg chg="add mod">
          <ac:chgData name="mayur@epcorn.com" userId="8d857f4fd2d1f3c9" providerId="LiveId" clId="{4D9048F2-F110-4217-BA19-6873865FC429}" dt="2026-08-26T07:17:38.714" v="248" actId="20577"/>
          <ac:spMkLst>
            <pc:docMk/>
            <pc:sldMk cId="0" sldId="257"/>
            <ac:spMk id="16" creationId="{D2CC434E-2CD1-0987-0899-61E735EEFAAE}"/>
          </ac:spMkLst>
        </pc:spChg>
      </pc:sldChg>
      <pc:sldChg chg="modSp mod">
        <pc:chgData name="mayur@epcorn.com" userId="8d857f4fd2d1f3c9" providerId="LiveId" clId="{4D9048F2-F110-4217-BA19-6873865FC429}" dt="2026-08-25T10:50:06.072" v="74" actId="20577"/>
        <pc:sldMkLst>
          <pc:docMk/>
          <pc:sldMk cId="0" sldId="258"/>
        </pc:sldMkLst>
        <pc:spChg chg="mod">
          <ac:chgData name="mayur@epcorn.com" userId="8d857f4fd2d1f3c9" providerId="LiveId" clId="{4D9048F2-F110-4217-BA19-6873865FC429}" dt="2026-08-25T10:50:06.072" v="74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7:40.339" v="55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7:25.980" v="53" actId="1076"/>
          <ac:spMkLst>
            <pc:docMk/>
            <pc:sldMk cId="0" sldId="258"/>
            <ac:spMk id="4" creationId="{00000000-0000-0000-0000-000000000000}"/>
          </ac:spMkLst>
        </pc:spChg>
      </pc:sldChg>
      <pc:sldChg chg="addSp delSp modSp mod">
        <pc:chgData name="mayur@epcorn.com" userId="8d857f4fd2d1f3c9" providerId="LiveId" clId="{4D9048F2-F110-4217-BA19-6873865FC429}" dt="2026-08-26T09:16:06.435" v="273" actId="478"/>
        <pc:sldMkLst>
          <pc:docMk/>
          <pc:sldMk cId="0" sldId="259"/>
        </pc:sldMkLst>
        <pc:spChg chg="mod">
          <ac:chgData name="mayur@epcorn.com" userId="8d857f4fd2d1f3c9" providerId="LiveId" clId="{4D9048F2-F110-4217-BA19-6873865FC429}" dt="2026-08-25T10:50:46.876" v="75" actId="2057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7:49.502" v="56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7:54.230" v="57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8:07.241" v="59" actId="1076"/>
          <ac:spMkLst>
            <pc:docMk/>
            <pc:sldMk cId="0" sldId="259"/>
            <ac:spMk id="5" creationId="{00000000-0000-0000-0000-000000000000}"/>
          </ac:spMkLst>
        </pc:spChg>
        <pc:spChg chg="add del mod">
          <ac:chgData name="mayur@epcorn.com" userId="8d857f4fd2d1f3c9" providerId="LiveId" clId="{4D9048F2-F110-4217-BA19-6873865FC429}" dt="2026-08-26T09:15:57.974" v="269" actId="478"/>
          <ac:spMkLst>
            <pc:docMk/>
            <pc:sldMk cId="0" sldId="259"/>
            <ac:spMk id="6" creationId="{60E856ED-0A17-F212-6AB7-82149FAB4E79}"/>
          </ac:spMkLst>
        </pc:spChg>
        <pc:spChg chg="add del mod">
          <ac:chgData name="mayur@epcorn.com" userId="8d857f4fd2d1f3c9" providerId="LiveId" clId="{4D9048F2-F110-4217-BA19-6873865FC429}" dt="2026-08-26T09:15:56.176" v="268" actId="478"/>
          <ac:spMkLst>
            <pc:docMk/>
            <pc:sldMk cId="0" sldId="259"/>
            <ac:spMk id="11" creationId="{B708D3A7-BF0B-0DCF-EB17-326A9712FD63}"/>
          </ac:spMkLst>
        </pc:spChg>
        <pc:spChg chg="add del mod">
          <ac:chgData name="mayur@epcorn.com" userId="8d857f4fd2d1f3c9" providerId="LiveId" clId="{4D9048F2-F110-4217-BA19-6873865FC429}" dt="2026-08-26T09:16:06.435" v="273" actId="478"/>
          <ac:spMkLst>
            <pc:docMk/>
            <pc:sldMk cId="0" sldId="259"/>
            <ac:spMk id="13" creationId="{202CAC2E-68C0-B378-A9CB-3B426CCB58BE}"/>
          </ac:spMkLst>
        </pc:spChg>
        <pc:spChg chg="add del mod">
          <ac:chgData name="mayur@epcorn.com" userId="8d857f4fd2d1f3c9" providerId="LiveId" clId="{4D9048F2-F110-4217-BA19-6873865FC429}" dt="2026-08-26T09:15:59.975" v="270" actId="478"/>
          <ac:spMkLst>
            <pc:docMk/>
            <pc:sldMk cId="0" sldId="259"/>
            <ac:spMk id="15" creationId="{2E33B8B2-3CAD-22A2-76AF-F25B3A5422B2}"/>
          </ac:spMkLst>
        </pc:spChg>
        <pc:spChg chg="add del mod">
          <ac:chgData name="mayur@epcorn.com" userId="8d857f4fd2d1f3c9" providerId="LiveId" clId="{4D9048F2-F110-4217-BA19-6873865FC429}" dt="2026-08-26T09:16:01.307" v="271" actId="478"/>
          <ac:spMkLst>
            <pc:docMk/>
            <pc:sldMk cId="0" sldId="259"/>
            <ac:spMk id="17" creationId="{53E8C3B2-64AC-C8AF-CFBD-1AF9A65974AE}"/>
          </ac:spMkLst>
        </pc:spChg>
        <pc:spChg chg="add del mod">
          <ac:chgData name="mayur@epcorn.com" userId="8d857f4fd2d1f3c9" providerId="LiveId" clId="{4D9048F2-F110-4217-BA19-6873865FC429}" dt="2026-08-26T09:16:02.239" v="272" actId="478"/>
          <ac:spMkLst>
            <pc:docMk/>
            <pc:sldMk cId="0" sldId="259"/>
            <ac:spMk id="19" creationId="{9AC708D9-52DD-E170-4107-E10F064D0BB8}"/>
          </ac:spMkLst>
        </pc:spChg>
        <pc:cxnChg chg="add mod">
          <ac:chgData name="mayur@epcorn.com" userId="8d857f4fd2d1f3c9" providerId="LiveId" clId="{4D9048F2-F110-4217-BA19-6873865FC429}" dt="2026-08-25T10:52:51.590" v="88" actId="1076"/>
          <ac:cxnSpMkLst>
            <pc:docMk/>
            <pc:sldMk cId="0" sldId="259"/>
            <ac:cxnSpMk id="8" creationId="{C4BE69A8-FB0D-2425-4C44-F4B81D3AE47A}"/>
          </ac:cxnSpMkLst>
        </pc:cxnChg>
      </pc:sldChg>
      <pc:sldChg chg="modSp mod">
        <pc:chgData name="mayur@epcorn.com" userId="8d857f4fd2d1f3c9" providerId="LiveId" clId="{4D9048F2-F110-4217-BA19-6873865FC429}" dt="2026-08-25T10:58:40.186" v="104" actId="20577"/>
        <pc:sldMkLst>
          <pc:docMk/>
          <pc:sldMk cId="0" sldId="260"/>
        </pc:sldMkLst>
        <pc:spChg chg="mod">
          <ac:chgData name="mayur@epcorn.com" userId="8d857f4fd2d1f3c9" providerId="LiveId" clId="{4D9048F2-F110-4217-BA19-6873865FC429}" dt="2026-08-25T10:58:40.186" v="104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8:21.993" v="61" actId="14100"/>
          <ac:spMkLst>
            <pc:docMk/>
            <pc:sldMk cId="0" sldId="260"/>
            <ac:spMk id="3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8:28.252" v="62" actId="14100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mayur@epcorn.com" userId="8d857f4fd2d1f3c9" providerId="LiveId" clId="{4D9048F2-F110-4217-BA19-6873865FC429}" dt="2026-08-25T08:08:47.837" v="65" actId="14100"/>
        <pc:sldMkLst>
          <pc:docMk/>
          <pc:sldMk cId="0" sldId="261"/>
        </pc:sldMkLst>
        <pc:spChg chg="mod">
          <ac:chgData name="mayur@epcorn.com" userId="8d857f4fd2d1f3c9" providerId="LiveId" clId="{4D9048F2-F110-4217-BA19-6873865FC429}" dt="2026-08-25T08:08:41.811" v="64" actId="14100"/>
          <ac:spMkLst>
            <pc:docMk/>
            <pc:sldMk cId="0" sldId="261"/>
            <ac:spMk id="2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8:47.837" v="65" actId="14100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mayur@epcorn.com" userId="8d857f4fd2d1f3c9" providerId="LiveId" clId="{4D9048F2-F110-4217-BA19-6873865FC429}" dt="2026-08-25T08:09:37.280" v="73" actId="1076"/>
        <pc:sldMkLst>
          <pc:docMk/>
          <pc:sldMk cId="0" sldId="262"/>
        </pc:sldMkLst>
        <pc:spChg chg="mod">
          <ac:chgData name="mayur@epcorn.com" userId="8d857f4fd2d1f3c9" providerId="LiveId" clId="{4D9048F2-F110-4217-BA19-6873865FC429}" dt="2026-08-25T08:09:37.280" v="73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ayur@epcorn.com" userId="8d857f4fd2d1f3c9" providerId="LiveId" clId="{4D9048F2-F110-4217-BA19-6873865FC429}" dt="2026-08-25T08:08:59.543" v="66" actId="14100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f-UZPGKOIe7lPTYhRb27l8pY9brpmhZRsVEX2GFgcig/edit?usp=sharing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svg"/><Relationship Id="rId9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26" Type="http://schemas.openxmlformats.org/officeDocument/2006/relationships/image" Target="../media/image44.png"/><Relationship Id="rId3" Type="http://schemas.openxmlformats.org/officeDocument/2006/relationships/image" Target="../media/image21.png"/><Relationship Id="rId21" Type="http://schemas.openxmlformats.org/officeDocument/2006/relationships/image" Target="../media/image39.png"/><Relationship Id="rId7" Type="http://schemas.openxmlformats.org/officeDocument/2006/relationships/image" Target="../media/image25.png"/><Relationship Id="rId12" Type="http://schemas.openxmlformats.org/officeDocument/2006/relationships/image" Target="../media/image30.jpeg"/><Relationship Id="rId17" Type="http://schemas.openxmlformats.org/officeDocument/2006/relationships/image" Target="../media/image35.png"/><Relationship Id="rId25" Type="http://schemas.openxmlformats.org/officeDocument/2006/relationships/image" Target="../media/image43.png"/><Relationship Id="rId2" Type="http://schemas.openxmlformats.org/officeDocument/2006/relationships/image" Target="../media/image20.jpeg"/><Relationship Id="rId16" Type="http://schemas.openxmlformats.org/officeDocument/2006/relationships/image" Target="../media/image34.jpe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11" Type="http://schemas.openxmlformats.org/officeDocument/2006/relationships/image" Target="../media/image29.jpeg"/><Relationship Id="rId24" Type="http://schemas.openxmlformats.org/officeDocument/2006/relationships/image" Target="../media/image42.jpeg"/><Relationship Id="rId5" Type="http://schemas.openxmlformats.org/officeDocument/2006/relationships/image" Target="../media/image23.jpeg"/><Relationship Id="rId15" Type="http://schemas.openxmlformats.org/officeDocument/2006/relationships/image" Target="../media/image33.jpeg"/><Relationship Id="rId23" Type="http://schemas.openxmlformats.org/officeDocument/2006/relationships/image" Target="../media/image41.jpeg"/><Relationship Id="rId10" Type="http://schemas.openxmlformats.org/officeDocument/2006/relationships/image" Target="../media/image28.jpeg"/><Relationship Id="rId19" Type="http://schemas.openxmlformats.org/officeDocument/2006/relationships/image" Target="../media/image37.jpe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40.jpeg"/><Relationship Id="rId27" Type="http://schemas.openxmlformats.org/officeDocument/2006/relationships/image" Target="../media/image4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epcorn@yahoo.in" TargetMode="External"/><Relationship Id="rId5" Type="http://schemas.openxmlformats.org/officeDocument/2006/relationships/image" Target="../media/image48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0661" y="6234217"/>
            <a:ext cx="16754339" cy="3471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Client Name: </a:t>
            </a: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M/s. St Telemedia Global Data Centres</a:t>
            </a:r>
          </a:p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Meet at site: </a:t>
            </a: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	anjali</a:t>
            </a:r>
          </a:p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Site Category: </a:t>
            </a: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restaurant</a:t>
            </a:r>
          </a:p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Site Address: </a:t>
            </a: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efrgt</a:t>
            </a:r>
          </a:p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Inspection Date</a:t>
            </a: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26 Aug 2026, 04:40 pm</a:t>
            </a:r>
          </a:p>
          <a:p>
            <a:pPr algn="l">
              <a:lnSpc>
                <a:spcPts val="4611"/>
              </a:lnSpc>
              <a:spcBef>
                <a:spcPct val="0"/>
              </a:spcBef>
            </a:pPr>
            <a:r>
              <a:rPr lang="en-US" sz="3294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Inspected By: </a:t>
            </a:r>
            <a:r>
              <a:rPr lang="en-US" sz="32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Rohini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70430" y="4370879"/>
            <a:ext cx="16390289" cy="1469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9"/>
              </a:lnSpc>
              <a:spcBef>
                <a:spcPct val="0"/>
              </a:spcBef>
            </a:pPr>
            <a:r>
              <a:rPr lang="en-US" sz="42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Consolidated Audit Findings &amp; Root Cause Analysis Report</a:t>
            </a:r>
          </a:p>
          <a:p>
            <a:pPr algn="l">
              <a:lnSpc>
                <a:spcPts val="5919"/>
              </a:lnSpc>
              <a:spcBef>
                <a:spcPct val="0"/>
              </a:spcBef>
            </a:pPr>
            <a:endParaRPr lang="en-US" sz="4227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2782913" y="-2654"/>
            <a:ext cx="12722174" cy="3360627"/>
          </a:xfrm>
          <a:custGeom>
            <a:avLst/>
            <a:gdLst/>
            <a:ahLst/>
            <a:cxnLst/>
            <a:rect l="l" t="t" r="r" b="b"/>
            <a:pathLst>
              <a:path w="12722174" h="3360627">
                <a:moveTo>
                  <a:pt x="0" y="0"/>
                </a:moveTo>
                <a:lnTo>
                  <a:pt x="12722174" y="0"/>
                </a:lnTo>
                <a:lnTo>
                  <a:pt x="12722174" y="3360626"/>
                </a:lnTo>
                <a:lnTo>
                  <a:pt x="0" y="3360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34" t="-208901" r="-7512" b="-178858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505" y="2221023"/>
            <a:ext cx="17962989" cy="2245374"/>
          </a:xfrm>
          <a:custGeom>
            <a:avLst/>
            <a:gdLst/>
            <a:ahLst/>
            <a:cxnLst/>
            <a:rect l="l" t="t" r="r" b="b"/>
            <a:pathLst>
              <a:path w="17962989" h="2245374">
                <a:moveTo>
                  <a:pt x="0" y="0"/>
                </a:moveTo>
                <a:lnTo>
                  <a:pt x="17962990" y="0"/>
                </a:lnTo>
                <a:lnTo>
                  <a:pt x="17962990" y="2245373"/>
                </a:lnTo>
                <a:lnTo>
                  <a:pt x="0" y="2245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309810" y="5817210"/>
            <a:ext cx="17668380" cy="4469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4931" lvl="1" indent="-272466" algn="l">
              <a:lnSpc>
                <a:spcPts val="3533"/>
              </a:lnSpc>
              <a:buFont typeface="Arial"/>
              <a:buChar char="•"/>
            </a:pPr>
            <a:r>
              <a:rPr lang="en-US" sz="252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Live cockroaches were found in the meat room and cockroach egg cases were found in the banquet store room.</a:t>
            </a:r>
          </a:p>
          <a:p>
            <a:pPr marL="544931" lvl="1" indent="-272466" algn="l">
              <a:lnSpc>
                <a:spcPts val="3533"/>
              </a:lnSpc>
              <a:buFont typeface="Arial"/>
              <a:buChar char="•"/>
            </a:pPr>
            <a:r>
              <a:rPr lang="en-US" sz="252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Flies were observed in the kitchen/restaurant areas; dead pests and pests in cockroach traps were also recorded.</a:t>
            </a:r>
          </a:p>
          <a:p>
            <a:pPr marL="544931" lvl="1" indent="-272466" algn="l">
              <a:lnSpc>
                <a:spcPts val="3533"/>
              </a:lnSpc>
              <a:buFont typeface="Arial"/>
              <a:buChar char="•"/>
            </a:pPr>
            <a:r>
              <a:rPr lang="en-US" sz="252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Multiple gaps/cracks were identified inside staff canteen shelves, bar shelves, barista shelves, the barista dustbin cabinet and restaurant service areas.</a:t>
            </a:r>
          </a:p>
          <a:p>
            <a:pPr marL="544931" lvl="1" indent="-272466" algn="l">
              <a:lnSpc>
                <a:spcPts val="3533"/>
              </a:lnSpc>
              <a:buFont typeface="Arial"/>
              <a:buChar char="•"/>
            </a:pPr>
            <a:r>
              <a:rPr lang="en-US" sz="252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Grease, food debris, dirty floor corners, cardboard storage, dirty drains and standing water were identified as conditions requiring corrective action.</a:t>
            </a:r>
          </a:p>
          <a:p>
            <a:pPr marL="544931" lvl="1" indent="-272466" algn="l">
              <a:lnSpc>
                <a:spcPts val="3533"/>
              </a:lnSpc>
              <a:buFont typeface="Arial"/>
              <a:buChar char="•"/>
            </a:pPr>
            <a:r>
              <a:rPr lang="en-US" sz="2523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audit indicates that pest-management measures are in place, but environmental conditions need stronger control to reduce recurring pest pressure.</a:t>
            </a:r>
          </a:p>
          <a:p>
            <a:pPr algn="l">
              <a:lnSpc>
                <a:spcPts val="3533"/>
              </a:lnSpc>
            </a:pPr>
            <a:endParaRPr lang="en-US" sz="2523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537564" y="1200826"/>
            <a:ext cx="15912235" cy="8254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39"/>
              </a:lnSpc>
              <a:spcBef>
                <a:spcPct val="0"/>
              </a:spcBef>
            </a:pPr>
            <a:r>
              <a:rPr lang="en-US" sz="2385" b="1" dirty="0">
                <a:solidFill>
                  <a:srgbClr val="000000">
                    <a:alpha val="60000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findings from the submitted audit matrix</a:t>
            </a:r>
          </a:p>
          <a:p>
            <a:pPr algn="ctr">
              <a:lnSpc>
                <a:spcPts val="3339"/>
              </a:lnSpc>
              <a:spcBef>
                <a:spcPct val="0"/>
              </a:spcBef>
            </a:pPr>
            <a:endParaRPr lang="en-US" sz="2385" b="1" dirty="0">
              <a:solidFill>
                <a:srgbClr val="000000">
                  <a:alpha val="60000"/>
                </a:srgbClr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94609" y="316939"/>
            <a:ext cx="17683581" cy="711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919"/>
              </a:lnSpc>
              <a:spcBef>
                <a:spcPct val="0"/>
              </a:spcBef>
            </a:pPr>
            <a:r>
              <a:rPr lang="en-US" sz="42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EXECUTIVE SUMMARY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48000" y="4884628"/>
            <a:ext cx="11454650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u="sng" dirty="0">
                <a:solidFill>
                  <a:srgbClr val="FF3131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docs.google.com/spreadsheets/d/1f-UZPGKOIe7lPTYhRb27l8pY9brpmhZRsVEX2GFgcig/edit?usp=sharing"/>
              </a:rPr>
              <a:t>Click to see the detailed Audit Score Report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0EDB2C0-6E21-DADB-218C-4E1CC3899669}"/>
              </a:ext>
            </a:extLst>
          </p:cNvPr>
          <p:cNvSpPr/>
          <p:nvPr/>
        </p:nvSpPr>
        <p:spPr>
          <a:xfrm>
            <a:off x="298924" y="2301571"/>
            <a:ext cx="4042194" cy="2084277"/>
          </a:xfrm>
          <a:prstGeom prst="roundRect">
            <a:avLst>
              <a:gd name="adj" fmla="val 1752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OVERALL COMPLIANCE</a:t>
            </a:r>
            <a:endParaRPr lang="en-US" b="1" dirty="0"/>
          </a:p>
          <a:p>
            <a:pPr algn="ctr"/>
            <a:r>
              <a:rPr lang="en-US" sz="4400" b="1" dirty="0"/>
              <a:t>0</a:t>
            </a:r>
            <a:r>
              <a:rPr lang="en-US" sz="4400" b="1" dirty="0" err="1"/>
              <a:t/>
            </a:r>
            <a:r>
              <a:rPr lang="en-US" sz="4400" b="1" dirty="0"/>
              <a:t>%</a:t>
            </a:r>
            <a:endParaRPr lang="en-US" b="1" dirty="0"/>
          </a:p>
          <a:p>
            <a:pPr algn="ctr"/>
            <a:r>
              <a:rPr lang="en-US" sz="2000" b="1" dirty="0"/>
              <a:t>AUDIT SCORE</a:t>
            </a:r>
            <a:endParaRPr lang="en-IN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8BB24B0-335D-F5A3-AB70-86DBAECBBE94}"/>
              </a:ext>
            </a:extLst>
          </p:cNvPr>
          <p:cNvSpPr/>
          <p:nvPr/>
        </p:nvSpPr>
        <p:spPr>
          <a:xfrm>
            <a:off x="4876800" y="2301259"/>
            <a:ext cx="4042194" cy="2084277"/>
          </a:xfrm>
          <a:prstGeom prst="roundRect">
            <a:avLst>
              <a:gd name="adj" fmla="val 1752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PEST CONTROL</a:t>
            </a:r>
            <a:endParaRPr lang="en-US" b="1" dirty="0"/>
          </a:p>
          <a:p>
            <a:pPr algn="ctr"/>
            <a:r>
              <a:rPr lang="en-US" sz="4400" b="1" dirty="0"/>
              <a:t>0/30</a:t>
            </a:r>
            <a:r>
              <a:rPr lang="en-US" sz="4400" b="1" dirty="0" err="1"/>
              <a:t/>
            </a:r>
            <a:r>
              <a:rPr lang="en-US" sz="4400" b="1" dirty="0"/>
              <a:t/>
            </a:r>
            <a:endParaRPr lang="en-US" b="1" dirty="0"/>
          </a:p>
          <a:p>
            <a:pPr algn="ctr"/>
            <a:r>
              <a:rPr lang="en-US" sz="2000" b="1" dirty="0"/>
              <a:t>ACHIEVED SCORE</a:t>
            </a:r>
            <a:endParaRPr lang="en-IN" b="1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7216BCA-7601-D43D-F480-8AEF89CC3095}"/>
              </a:ext>
            </a:extLst>
          </p:cNvPr>
          <p:cNvSpPr/>
          <p:nvPr/>
        </p:nvSpPr>
        <p:spPr>
          <a:xfrm>
            <a:off x="9406619" y="2223264"/>
            <a:ext cx="4042194" cy="2084277"/>
          </a:xfrm>
          <a:prstGeom prst="roundRect">
            <a:avLst>
              <a:gd name="adj" fmla="val 1752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INFRASTRUCTURE</a:t>
            </a:r>
            <a:endParaRPr lang="en-US" b="1" dirty="0"/>
          </a:p>
          <a:p>
            <a:pPr algn="ctr"/>
            <a:r>
              <a:rPr lang="en-US" sz="4400" b="1" dirty="0"/>
              <a:t>0/20</a:t>
            </a:r>
            <a:r>
              <a:rPr lang="en-US" sz="4400" b="1" dirty="0" err="1"/>
              <a:t/>
            </a:r>
            <a:r>
              <a:rPr lang="en-US" sz="4400" b="1" dirty="0"/>
              <a:t/>
            </a:r>
            <a:endParaRPr lang="en-US" b="1" dirty="0"/>
          </a:p>
          <a:p>
            <a:pPr algn="ctr"/>
            <a:r>
              <a:rPr lang="en-US" sz="2000" b="1" dirty="0"/>
              <a:t>ACHIEVED SCORE</a:t>
            </a:r>
            <a:endParaRPr lang="en-IN" b="1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2CC434E-2CD1-0987-0899-61E735EEFAAE}"/>
              </a:ext>
            </a:extLst>
          </p:cNvPr>
          <p:cNvSpPr/>
          <p:nvPr/>
        </p:nvSpPr>
        <p:spPr>
          <a:xfrm>
            <a:off x="13973609" y="2334959"/>
            <a:ext cx="4042194" cy="2084277"/>
          </a:xfrm>
          <a:prstGeom prst="roundRect">
            <a:avLst>
              <a:gd name="adj" fmla="val 1752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SANITATION</a:t>
            </a:r>
            <a:endParaRPr lang="en-US" b="1" dirty="0"/>
          </a:p>
          <a:p>
            <a:pPr algn="ctr"/>
            <a:r>
              <a:rPr lang="en-US" sz="4400" b="1" dirty="0"/>
              <a:t>0/20</a:t>
            </a:r>
            <a:r>
              <a:rPr lang="en-US" sz="4400" b="1" dirty="0" err="1"/>
              <a:t/>
            </a:r>
            <a:r>
              <a:rPr lang="en-US" sz="4400" b="1" dirty="0"/>
              <a:t/>
            </a:r>
            <a:endParaRPr lang="en-US" b="1" dirty="0"/>
          </a:p>
          <a:p>
            <a:pPr algn="ctr"/>
            <a:r>
              <a:rPr lang="en-US" sz="2000" b="1" dirty="0"/>
              <a:t>ACHIEVED SCORE</a:t>
            </a:r>
            <a:endParaRPr lang="en-IN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361" y="2819738"/>
            <a:ext cx="18015278" cy="7273668"/>
          </a:xfrm>
          <a:custGeom>
            <a:avLst/>
            <a:gdLst/>
            <a:ahLst/>
            <a:cxnLst/>
            <a:rect l="l" t="t" r="r" b="b"/>
            <a:pathLst>
              <a:path w="18015278" h="7273668">
                <a:moveTo>
                  <a:pt x="0" y="0"/>
                </a:moveTo>
                <a:lnTo>
                  <a:pt x="18015278" y="0"/>
                </a:lnTo>
                <a:lnTo>
                  <a:pt x="18015278" y="7273669"/>
                </a:lnTo>
                <a:lnTo>
                  <a:pt x="0" y="72736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360469" y="356450"/>
            <a:ext cx="17271228" cy="15709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39"/>
              </a:lnSpc>
              <a:spcBef>
                <a:spcPct val="0"/>
              </a:spcBef>
            </a:pPr>
            <a:r>
              <a:rPr lang="en-US" sz="45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PEST ACTIVITY – KEY FINDINGS</a:t>
            </a:r>
          </a:p>
          <a:p>
            <a:pPr algn="ctr">
              <a:lnSpc>
                <a:spcPts val="6339"/>
              </a:lnSpc>
              <a:spcBef>
                <a:spcPct val="0"/>
              </a:spcBef>
            </a:pPr>
            <a:endParaRPr lang="en-US" sz="4527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1740416"/>
            <a:ext cx="15366227" cy="843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99"/>
              </a:lnSpc>
              <a:spcBef>
                <a:spcPct val="0"/>
              </a:spcBef>
            </a:pPr>
            <a:r>
              <a:rPr lang="en-US" sz="2427" b="1" dirty="0">
                <a:solidFill>
                  <a:srgbClr val="000000">
                    <a:alpha val="71765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Recorded observations from the audit matrix</a:t>
            </a:r>
          </a:p>
          <a:p>
            <a:pPr algn="ctr">
              <a:lnSpc>
                <a:spcPts val="3399"/>
              </a:lnSpc>
              <a:spcBef>
                <a:spcPct val="0"/>
              </a:spcBef>
            </a:pPr>
            <a:endParaRPr lang="en-US" sz="2427" b="1" dirty="0">
              <a:solidFill>
                <a:srgbClr val="000000">
                  <a:alpha val="71765"/>
                </a:srgbClr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7817" y="2857500"/>
            <a:ext cx="18060183" cy="5790546"/>
          </a:xfrm>
          <a:custGeom>
            <a:avLst/>
            <a:gdLst/>
            <a:ahLst/>
            <a:cxnLst/>
            <a:rect l="l" t="t" r="r" b="b"/>
            <a:pathLst>
              <a:path w="18060183" h="5790546">
                <a:moveTo>
                  <a:pt x="0" y="0"/>
                </a:moveTo>
                <a:lnTo>
                  <a:pt x="18060184" y="0"/>
                </a:lnTo>
                <a:lnTo>
                  <a:pt x="18060184" y="5790546"/>
                </a:lnTo>
                <a:lnTo>
                  <a:pt x="0" y="5790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247416" y="257884"/>
            <a:ext cx="17049983" cy="7708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39"/>
              </a:lnSpc>
              <a:spcBef>
                <a:spcPct val="0"/>
              </a:spcBef>
            </a:pPr>
            <a:r>
              <a:rPr lang="en-US" sz="45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ROOT CAUSE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87623" y="1231857"/>
            <a:ext cx="15557377" cy="394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59"/>
              </a:lnSpc>
              <a:spcBef>
                <a:spcPct val="0"/>
              </a:spcBef>
            </a:pPr>
            <a:r>
              <a:rPr lang="en-US" sz="232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Environmental conditions identified during inspection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12290" y="9422180"/>
            <a:ext cx="18232544" cy="381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sz="222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Pest control addresses the pest population; eliminating food, water and </a:t>
            </a:r>
            <a:r>
              <a:rPr lang="en-US" sz="222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harbourage</a:t>
            </a:r>
            <a:r>
              <a:rPr lang="en-US" sz="222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sources is essential for sustained control.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BE69A8-FB0D-2425-4C44-F4B81D3AE47A}"/>
              </a:ext>
            </a:extLst>
          </p:cNvPr>
          <p:cNvCxnSpPr>
            <a:cxnSpLocks/>
          </p:cNvCxnSpPr>
          <p:nvPr/>
        </p:nvCxnSpPr>
        <p:spPr>
          <a:xfrm>
            <a:off x="339213" y="2857500"/>
            <a:ext cx="24581" cy="25146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944" y="2509775"/>
            <a:ext cx="18026111" cy="7498496"/>
          </a:xfrm>
          <a:custGeom>
            <a:avLst/>
            <a:gdLst/>
            <a:ahLst/>
            <a:cxnLst/>
            <a:rect l="l" t="t" r="r" b="b"/>
            <a:pathLst>
              <a:path w="18026111" h="7498496">
                <a:moveTo>
                  <a:pt x="0" y="0"/>
                </a:moveTo>
                <a:lnTo>
                  <a:pt x="18026110" y="0"/>
                </a:lnTo>
                <a:lnTo>
                  <a:pt x="18026110" y="7498496"/>
                </a:lnTo>
                <a:lnTo>
                  <a:pt x="0" y="7498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308726" y="278729"/>
            <a:ext cx="17293474" cy="7708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39"/>
              </a:lnSpc>
              <a:spcBef>
                <a:spcPct val="0"/>
              </a:spcBef>
            </a:pPr>
            <a:r>
              <a:rPr lang="en-US" sz="45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INFRASTRUCTURE NON-CONFORMITIES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8726" y="1296839"/>
            <a:ext cx="16683874" cy="358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79"/>
              </a:lnSpc>
              <a:spcBef>
                <a:spcPct val="0"/>
              </a:spcBef>
            </a:pPr>
            <a:r>
              <a:rPr lang="en-US" sz="212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Specific locations recorded in the audit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9635" y="340434"/>
            <a:ext cx="17133965" cy="688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39"/>
              </a:lnSpc>
              <a:spcBef>
                <a:spcPct val="0"/>
              </a:spcBef>
            </a:pPr>
            <a:r>
              <a:rPr lang="en-US" sz="402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HYGIENE &amp; HOUSEKEEPING NON-CONFORMITIES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87377" y="1258356"/>
            <a:ext cx="15100423" cy="394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59"/>
              </a:lnSpc>
              <a:spcBef>
                <a:spcPct val="0"/>
              </a:spcBef>
            </a:pPr>
            <a:r>
              <a:rPr lang="en-US" sz="232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Conditions contributing to pest attraction and </a:t>
            </a:r>
            <a:r>
              <a:rPr lang="en-US" sz="232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harbourage</a:t>
            </a:r>
            <a:endParaRPr lang="en-US" sz="2327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39635" y="3032956"/>
            <a:ext cx="18048365" cy="443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0553" lvl="1" indent="-305276" algn="l">
              <a:lnSpc>
                <a:spcPts val="3959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Grease accumulation observed on corners of racks at the lobby of the back entrance of Modo Modo restaurant.</a:t>
            </a:r>
          </a:p>
          <a:p>
            <a:pPr marL="610553" lvl="1" indent="-305276" algn="l">
              <a:lnSpc>
                <a:spcPts val="3959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Food debris and grease found on the counter under Hood 4 at Modo Modo.</a:t>
            </a:r>
          </a:p>
          <a:p>
            <a:pPr marL="610553" lvl="1" indent="-305276" algn="l">
              <a:lnSpc>
                <a:spcPts val="3959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Floor corners at the back door of Modo Modo require increased cleaning frequency.</a:t>
            </a:r>
          </a:p>
          <a:p>
            <a:pPr marL="610553" lvl="1" indent="-305276" algn="l">
              <a:lnSpc>
                <a:spcPts val="3959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Cardboard boxes were found inside the bar area and directly on the floor, providing potential pest harbourage.</a:t>
            </a:r>
          </a:p>
          <a:p>
            <a:pPr marL="610553" lvl="1" indent="-305276" algn="l">
              <a:lnSpc>
                <a:spcPts val="3959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Drains were dirty and contained leaves and biowaste.</a:t>
            </a:r>
          </a:p>
          <a:p>
            <a:pPr marL="610553" lvl="1" indent="-305276" algn="l">
              <a:lnSpc>
                <a:spcPts val="3959"/>
              </a:lnSpc>
              <a:buFont typeface="Arial"/>
              <a:buChar char="•"/>
            </a:pPr>
            <a:r>
              <a:rPr lang="en-US" sz="28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Standing water was observed in planters at the main entrance, creating a potential mosquito breeding risk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231" y="8857102"/>
            <a:ext cx="17199173" cy="35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9"/>
              </a:lnSpc>
              <a:spcBef>
                <a:spcPct val="0"/>
              </a:spcBef>
            </a:pPr>
            <a:r>
              <a:rPr lang="en-US" sz="212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PRIORITY: remove food residue • deep-clean inaccessible areas • clean drains • eliminate standing water • remove excess cardboard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7200" y="2628900"/>
            <a:ext cx="18029132" cy="5606408"/>
          </a:xfrm>
          <a:custGeom>
            <a:avLst/>
            <a:gdLst/>
            <a:ahLst/>
            <a:cxnLst/>
            <a:rect l="l" t="t" r="r" b="b"/>
            <a:pathLst>
              <a:path w="18029132" h="5606408">
                <a:moveTo>
                  <a:pt x="0" y="0"/>
                </a:moveTo>
                <a:lnTo>
                  <a:pt x="18029133" y="0"/>
                </a:lnTo>
                <a:lnTo>
                  <a:pt x="18029133" y="5606408"/>
                </a:lnTo>
                <a:lnTo>
                  <a:pt x="0" y="5606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70" r="-1665" b="-47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191302" y="300283"/>
            <a:ext cx="16877498" cy="629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ISSUE-WISE CONTROL STRATEGY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8037" y="1274577"/>
            <a:ext cx="5401568" cy="37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Based on the actual findings in the audit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2139" y="2174231"/>
            <a:ext cx="17523723" cy="6319492"/>
          </a:xfrm>
          <a:custGeom>
            <a:avLst/>
            <a:gdLst/>
            <a:ahLst/>
            <a:cxnLst/>
            <a:rect l="l" t="t" r="r" b="b"/>
            <a:pathLst>
              <a:path w="17523723" h="6319492">
                <a:moveTo>
                  <a:pt x="0" y="0"/>
                </a:moveTo>
                <a:lnTo>
                  <a:pt x="17523722" y="0"/>
                </a:lnTo>
                <a:lnTo>
                  <a:pt x="17523722" y="6319492"/>
                </a:lnTo>
                <a:lnTo>
                  <a:pt x="0" y="6319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312808" y="203963"/>
            <a:ext cx="13674570" cy="1553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29"/>
              </a:lnSpc>
              <a:spcBef>
                <a:spcPct val="0"/>
              </a:spcBef>
            </a:pPr>
            <a:r>
              <a:rPr lang="en-US" sz="44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PEST CONTROL &amp; CLIENT RESPONSIBILITIES</a:t>
            </a:r>
          </a:p>
          <a:p>
            <a:pPr algn="ctr">
              <a:lnSpc>
                <a:spcPts val="6229"/>
              </a:lnSpc>
              <a:spcBef>
                <a:spcPct val="0"/>
              </a:spcBef>
            </a:pPr>
            <a:endParaRPr lang="en-US" sz="444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300463" y="8874723"/>
            <a:ext cx="15958837" cy="797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9"/>
              </a:lnSpc>
              <a:spcBef>
                <a:spcPct val="0"/>
              </a:spcBef>
            </a:pPr>
            <a:r>
              <a:rPr lang="en-US" sz="23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SUSTAINABLE CONTROL = PEST MANAGEMENT + HYGIENE + INFRASTRUCTURE CORRECTION</a:t>
            </a:r>
          </a:p>
          <a:p>
            <a:pPr algn="ctr">
              <a:lnSpc>
                <a:spcPts val="3289"/>
              </a:lnSpc>
              <a:spcBef>
                <a:spcPct val="0"/>
              </a:spcBef>
            </a:pPr>
            <a:endParaRPr lang="en-US" sz="234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08518"/>
            <a:ext cx="10219115" cy="1570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9"/>
              </a:lnSpc>
              <a:spcBef>
                <a:spcPct val="0"/>
              </a:spcBef>
            </a:pPr>
            <a:r>
              <a:rPr lang="en-US" sz="454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IMMEDIATE CORRECTIVE ACTIONS</a:t>
            </a:r>
          </a:p>
          <a:p>
            <a:pPr algn="ctr">
              <a:lnSpc>
                <a:spcPts val="6369"/>
              </a:lnSpc>
              <a:spcBef>
                <a:spcPct val="0"/>
              </a:spcBef>
            </a:pPr>
            <a:endParaRPr lang="en-US" sz="454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649" y="1235352"/>
            <a:ext cx="7041654" cy="755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9"/>
              </a:lnSpc>
              <a:spcBef>
                <a:spcPct val="0"/>
              </a:spcBef>
            </a:pPr>
            <a:r>
              <a:rPr lang="en-US" sz="21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Recommended priorities based on audit observations</a:t>
            </a:r>
          </a:p>
          <a:p>
            <a:pPr algn="ctr">
              <a:lnSpc>
                <a:spcPts val="3009"/>
              </a:lnSpc>
              <a:spcBef>
                <a:spcPct val="0"/>
              </a:spcBef>
            </a:pPr>
            <a:endParaRPr lang="en-US" sz="214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16907" y="2823208"/>
            <a:ext cx="17376996" cy="5465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Seal all identified gaps/cracks in shelves, cabinets and service areas.</a:t>
            </a:r>
          </a:p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 not keep meat or waste exposed; maintain covered waste and food handling.</a:t>
            </a:r>
          </a:p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Deep-clean grease and food debris from racks, corners and under Hood 4.</a:t>
            </a:r>
          </a:p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Clean drains and remove leaves/biowaste; maintain regular drain hygiene.</a:t>
            </a:r>
          </a:p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Remove standing water from entrance planters immediately.</a:t>
            </a:r>
          </a:p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Remove old cardboard and avoid storing cardboard directly on the floor.</a:t>
            </a:r>
          </a:p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Increase cleaning frequency at back-door/floor-corner areas.</a:t>
            </a:r>
          </a:p>
          <a:p>
            <a:pPr marL="744711" lvl="1" indent="-372355" algn="l">
              <a:lnSpc>
                <a:spcPts val="4829"/>
              </a:lnSpc>
              <a:buAutoNum type="arabicPeriod"/>
            </a:pPr>
            <a:r>
              <a:rPr lang="en-US" sz="3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Continue pest-control monitoring and treatment and verify activity reduction.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8615" y="295712"/>
            <a:ext cx="3864470" cy="732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76"/>
              </a:lnSpc>
              <a:spcBef>
                <a:spcPct val="0"/>
              </a:spcBef>
            </a:pPr>
            <a:r>
              <a:rPr lang="en-US" sz="434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174230" y="1657869"/>
            <a:ext cx="13939540" cy="430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77"/>
              </a:lnSpc>
              <a:spcBef>
                <a:spcPct val="0"/>
              </a:spcBef>
            </a:pPr>
            <a:r>
              <a:rPr lang="en-US" sz="255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ROOT CAUSE IS NOT ONLY PEST ACTIVITY — IT IS THE CONDITIONS SUPPORTING IT.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6369" y="4060263"/>
            <a:ext cx="17955262" cy="4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4925" lvl="1" indent="-297463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audit score of 33.66% indicates significant scope for improvement across pest control, infrastructure and sanitation.</a:t>
            </a:r>
          </a:p>
          <a:p>
            <a:pPr marL="594925" lvl="1" indent="-297463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Current pest findings include live cockroaches, cockroach egg cases, flies, dead pests and pest captures in traps.</a:t>
            </a:r>
          </a:p>
          <a:p>
            <a:pPr marL="594925" lvl="1" indent="-297463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Multiple structural gaps and hygiene deficiencies provide potential access, food sources and harbourage.</a:t>
            </a:r>
          </a:p>
          <a:p>
            <a:pPr marL="594925" lvl="1" indent="-297463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Immediate closure of the identified hygiene, drainage, standing-water and infrastructure issues should be prioritised.</a:t>
            </a:r>
          </a:p>
          <a:p>
            <a:pPr marL="594925" lvl="1" indent="-297463" algn="l">
              <a:lnSpc>
                <a:spcPts val="3857"/>
              </a:lnSpc>
              <a:buFont typeface="Arial"/>
              <a:buChar char="•"/>
            </a:pPr>
            <a:r>
              <a:rPr lang="en-US" sz="27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Continue pest-control services and monitoring while corrective actions are implemented and verified.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3008" y="6674977"/>
            <a:ext cx="869546" cy="1449243"/>
          </a:xfrm>
          <a:custGeom>
            <a:avLst/>
            <a:gdLst/>
            <a:ahLst/>
            <a:cxnLst/>
            <a:rect l="l" t="t" r="r" b="b"/>
            <a:pathLst>
              <a:path w="869546" h="1449243">
                <a:moveTo>
                  <a:pt x="0" y="0"/>
                </a:moveTo>
                <a:lnTo>
                  <a:pt x="869546" y="0"/>
                </a:lnTo>
                <a:lnTo>
                  <a:pt x="869546" y="1449243"/>
                </a:lnTo>
                <a:lnTo>
                  <a:pt x="0" y="14492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79772" y="6624774"/>
            <a:ext cx="1694542" cy="1610525"/>
          </a:xfrm>
          <a:custGeom>
            <a:avLst/>
            <a:gdLst/>
            <a:ahLst/>
            <a:cxnLst/>
            <a:rect l="l" t="t" r="r" b="b"/>
            <a:pathLst>
              <a:path w="1694542" h="1610525">
                <a:moveTo>
                  <a:pt x="0" y="0"/>
                </a:moveTo>
                <a:lnTo>
                  <a:pt x="1694542" y="0"/>
                </a:lnTo>
                <a:lnTo>
                  <a:pt x="1694542" y="1610525"/>
                </a:lnTo>
                <a:lnTo>
                  <a:pt x="0" y="1610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5582" t="-55184" r="-407968" b="-8883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264839" y="6753053"/>
            <a:ext cx="1628050" cy="1386996"/>
          </a:xfrm>
          <a:custGeom>
            <a:avLst/>
            <a:gdLst/>
            <a:ahLst/>
            <a:cxnLst/>
            <a:rect l="l" t="t" r="r" b="b"/>
            <a:pathLst>
              <a:path w="1628050" h="1386996">
                <a:moveTo>
                  <a:pt x="0" y="0"/>
                </a:moveTo>
                <a:lnTo>
                  <a:pt x="1628050" y="0"/>
                </a:lnTo>
                <a:lnTo>
                  <a:pt x="1628050" y="1386996"/>
                </a:lnTo>
                <a:lnTo>
                  <a:pt x="0" y="13869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5765" t="-53819" r="-254942" b="-81041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103574" y="6930067"/>
            <a:ext cx="1425208" cy="1294442"/>
          </a:xfrm>
          <a:custGeom>
            <a:avLst/>
            <a:gdLst/>
            <a:ahLst/>
            <a:cxnLst/>
            <a:rect l="l" t="t" r="r" b="b"/>
            <a:pathLst>
              <a:path w="1425208" h="1294442">
                <a:moveTo>
                  <a:pt x="0" y="0"/>
                </a:moveTo>
                <a:lnTo>
                  <a:pt x="1425208" y="0"/>
                </a:lnTo>
                <a:lnTo>
                  <a:pt x="1425208" y="1294442"/>
                </a:lnTo>
                <a:lnTo>
                  <a:pt x="0" y="1294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9500" t="-60444" r="-181690" b="-8967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068883" y="6930067"/>
            <a:ext cx="1082624" cy="1294442"/>
          </a:xfrm>
          <a:custGeom>
            <a:avLst/>
            <a:gdLst/>
            <a:ahLst/>
            <a:cxnLst/>
            <a:rect l="l" t="t" r="r" b="b"/>
            <a:pathLst>
              <a:path w="1082624" h="1294442">
                <a:moveTo>
                  <a:pt x="0" y="0"/>
                </a:moveTo>
                <a:lnTo>
                  <a:pt x="1082624" y="0"/>
                </a:lnTo>
                <a:lnTo>
                  <a:pt x="1082624" y="1294442"/>
                </a:lnTo>
                <a:lnTo>
                  <a:pt x="0" y="1294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592850" y="9258300"/>
            <a:ext cx="19855663" cy="774877"/>
          </a:xfrm>
          <a:custGeom>
            <a:avLst/>
            <a:gdLst/>
            <a:ahLst/>
            <a:cxnLst/>
            <a:rect l="l" t="t" r="r" b="b"/>
            <a:pathLst>
              <a:path w="19855663" h="774877">
                <a:moveTo>
                  <a:pt x="0" y="0"/>
                </a:moveTo>
                <a:lnTo>
                  <a:pt x="19855663" y="0"/>
                </a:lnTo>
                <a:lnTo>
                  <a:pt x="19855663" y="774877"/>
                </a:lnTo>
                <a:lnTo>
                  <a:pt x="0" y="7748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387" t="-111458" b="-431449"/>
            </a:stretch>
          </a:blipFill>
        </p:spPr>
      </p:sp>
      <p:sp>
        <p:nvSpPr>
          <p:cNvPr id="8" name="Freeform 8"/>
          <p:cNvSpPr/>
          <p:nvPr/>
        </p:nvSpPr>
        <p:spPr>
          <a:xfrm rot="2356193">
            <a:off x="3885932" y="4753277"/>
            <a:ext cx="9448527" cy="2424484"/>
          </a:xfrm>
          <a:custGeom>
            <a:avLst/>
            <a:gdLst/>
            <a:ahLst/>
            <a:cxnLst/>
            <a:rect l="l" t="t" r="r" b="b"/>
            <a:pathLst>
              <a:path w="9448527" h="2424484">
                <a:moveTo>
                  <a:pt x="0" y="0"/>
                </a:moveTo>
                <a:lnTo>
                  <a:pt x="9448527" y="0"/>
                </a:lnTo>
                <a:lnTo>
                  <a:pt x="9448527" y="2424484"/>
                </a:lnTo>
                <a:lnTo>
                  <a:pt x="0" y="24244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1999"/>
            </a:blip>
            <a:stretch>
              <a:fillRect t="-268461" b="-497567"/>
            </a:stretch>
          </a:blipFill>
        </p:spPr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8595825" y="744019"/>
            <a:ext cx="9201438" cy="5175809"/>
            <a:chOff x="0" y="0"/>
            <a:chExt cx="5852160" cy="3291840"/>
          </a:xfrm>
        </p:grpSpPr>
        <p:sp>
          <p:nvSpPr>
            <p:cNvPr id="10" name="Freeform 10"/>
            <p:cNvSpPr/>
            <p:nvPr/>
          </p:nvSpPr>
          <p:spPr>
            <a:xfrm>
              <a:off x="0" y="17399"/>
              <a:ext cx="1966214" cy="3243707"/>
            </a:xfrm>
            <a:custGeom>
              <a:avLst/>
              <a:gdLst/>
              <a:ahLst/>
              <a:cxnLst/>
              <a:rect l="l" t="t" r="r" b="b"/>
              <a:pathLst>
                <a:path w="1966214" h="3243707">
                  <a:moveTo>
                    <a:pt x="0" y="0"/>
                  </a:moveTo>
                  <a:lnTo>
                    <a:pt x="1966214" y="0"/>
                  </a:lnTo>
                  <a:lnTo>
                    <a:pt x="1966214" y="3243707"/>
                  </a:lnTo>
                  <a:lnTo>
                    <a:pt x="0" y="32437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1589" r="-11589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974723" y="17399"/>
              <a:ext cx="1981581" cy="3243707"/>
            </a:xfrm>
            <a:custGeom>
              <a:avLst/>
              <a:gdLst/>
              <a:ahLst/>
              <a:cxnLst/>
              <a:rect l="l" t="t" r="r" b="b"/>
              <a:pathLst>
                <a:path w="1981581" h="3243707">
                  <a:moveTo>
                    <a:pt x="1981581" y="3243707"/>
                  </a:moveTo>
                  <a:lnTo>
                    <a:pt x="0" y="3243707"/>
                  </a:lnTo>
                  <a:lnTo>
                    <a:pt x="0" y="0"/>
                  </a:lnTo>
                  <a:lnTo>
                    <a:pt x="1981581" y="0"/>
                  </a:lnTo>
                  <a:lnTo>
                    <a:pt x="1981581" y="3243707"/>
                  </a:lnTo>
                  <a:close/>
                </a:path>
              </a:pathLst>
            </a:custGeom>
            <a:blipFill>
              <a:blip r:embed="rId8"/>
              <a:stretch>
                <a:fillRect l="-11043" r="-11043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3966337" y="17399"/>
              <a:ext cx="1885823" cy="3259074"/>
            </a:xfrm>
            <a:custGeom>
              <a:avLst/>
              <a:gdLst/>
              <a:ahLst/>
              <a:cxnLst/>
              <a:rect l="l" t="t" r="r" b="b"/>
              <a:pathLst>
                <a:path w="1885823" h="3259074">
                  <a:moveTo>
                    <a:pt x="1885823" y="3259074"/>
                  </a:moveTo>
                  <a:lnTo>
                    <a:pt x="0" y="3259074"/>
                  </a:lnTo>
                  <a:lnTo>
                    <a:pt x="0" y="0"/>
                  </a:lnTo>
                  <a:lnTo>
                    <a:pt x="1885823" y="0"/>
                  </a:lnTo>
                  <a:lnTo>
                    <a:pt x="1885823" y="3259074"/>
                  </a:lnTo>
                  <a:close/>
                </a:path>
              </a:pathLst>
            </a:custGeom>
            <a:blipFill>
              <a:blip r:embed="rId9"/>
              <a:stretch>
                <a:fillRect l="-14447" r="-14447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5852160" cy="3291840"/>
            </a:xfrm>
            <a:custGeom>
              <a:avLst/>
              <a:gdLst/>
              <a:ahLst/>
              <a:cxnLst/>
              <a:rect l="l" t="t" r="r" b="b"/>
              <a:pathLst>
                <a:path w="5852160" h="3291840">
                  <a:moveTo>
                    <a:pt x="5852160" y="3291840"/>
                  </a:moveTo>
                  <a:lnTo>
                    <a:pt x="0" y="3291840"/>
                  </a:lnTo>
                  <a:lnTo>
                    <a:pt x="0" y="0"/>
                  </a:lnTo>
                  <a:lnTo>
                    <a:pt x="5852160" y="0"/>
                  </a:lnTo>
                  <a:lnTo>
                    <a:pt x="5852160" y="329184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 rot="2356193" flipH="1">
            <a:off x="14463456" y="1691670"/>
            <a:ext cx="2317125" cy="594572"/>
          </a:xfrm>
          <a:custGeom>
            <a:avLst/>
            <a:gdLst/>
            <a:ahLst/>
            <a:cxnLst/>
            <a:rect l="l" t="t" r="r" b="b"/>
            <a:pathLst>
              <a:path w="2317125" h="594572">
                <a:moveTo>
                  <a:pt x="2317125" y="0"/>
                </a:moveTo>
                <a:lnTo>
                  <a:pt x="0" y="0"/>
                </a:lnTo>
                <a:lnTo>
                  <a:pt x="0" y="594572"/>
                </a:lnTo>
                <a:lnTo>
                  <a:pt x="2317125" y="594572"/>
                </a:lnTo>
                <a:lnTo>
                  <a:pt x="2317125" y="0"/>
                </a:lnTo>
                <a:close/>
              </a:path>
            </a:pathLst>
          </a:custGeom>
          <a:blipFill>
            <a:blip r:embed="rId6"/>
            <a:stretch>
              <a:fillRect t="-268461" b="-497567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6171729" y="3812716"/>
            <a:ext cx="892504" cy="892504"/>
          </a:xfrm>
          <a:custGeom>
            <a:avLst/>
            <a:gdLst/>
            <a:ahLst/>
            <a:cxnLst/>
            <a:rect l="l" t="t" r="r" b="b"/>
            <a:pathLst>
              <a:path w="892504" h="892504">
                <a:moveTo>
                  <a:pt x="0" y="0"/>
                </a:moveTo>
                <a:lnTo>
                  <a:pt x="892505" y="0"/>
                </a:lnTo>
                <a:lnTo>
                  <a:pt x="892505" y="892505"/>
                </a:lnTo>
                <a:lnTo>
                  <a:pt x="0" y="8925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179772" y="41402"/>
            <a:ext cx="14310420" cy="702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98"/>
              </a:lnSpc>
              <a:spcBef>
                <a:spcPct val="0"/>
              </a:spcBef>
            </a:pPr>
            <a:r>
              <a:rPr lang="en-US" sz="421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INTEGRATED PEST PROOFING SOLUTIONS by </a:t>
            </a:r>
            <a:r>
              <a:rPr lang="en-US" sz="4212" b="1">
                <a:solidFill>
                  <a:srgbClr val="2E70D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EPCORN</a:t>
            </a:r>
            <a:r>
              <a:rPr lang="en-US" sz="421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-1096350" y="9330462"/>
            <a:ext cx="19384350" cy="563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Dont just treat the problem, Seal it permanently.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2267" y="8095645"/>
            <a:ext cx="1394137" cy="953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8"/>
              </a:lnSpc>
            </a:pPr>
            <a:r>
              <a:rPr lang="en-US" sz="183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Long-lasting</a:t>
            </a:r>
          </a:p>
          <a:p>
            <a:pPr algn="ctr">
              <a:lnSpc>
                <a:spcPts val="2568"/>
              </a:lnSpc>
            </a:pPr>
            <a:r>
              <a:rPr lang="en-US" sz="183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protection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88042" y="8391984"/>
            <a:ext cx="2078001" cy="65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7"/>
              </a:lnSpc>
            </a:pPr>
            <a:r>
              <a:rPr lang="en-US" sz="187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Reduces repeat complaints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46568" y="8420020"/>
            <a:ext cx="1746321" cy="629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7"/>
              </a:lnSpc>
            </a:pPr>
            <a:r>
              <a:rPr lang="en-US" sz="185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Stronger than spray alone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92889" y="8258095"/>
            <a:ext cx="1846579" cy="952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7"/>
              </a:lnSpc>
            </a:pPr>
            <a:r>
              <a:rPr lang="en-US" sz="185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Safe &amp; professional application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55340" y="8248840"/>
            <a:ext cx="1880971" cy="952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7"/>
              </a:lnSpc>
            </a:pPr>
            <a:r>
              <a:rPr lang="en-US" sz="185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Ideal for kitchen &amp; bathroom gaps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875770" y="6627352"/>
            <a:ext cx="6488943" cy="2615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  <a:spcBef>
                <a:spcPct val="0"/>
              </a:spcBef>
            </a:pPr>
            <a:r>
              <a:rPr lang="en-US" sz="24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Crack filling and sealing</a:t>
            </a:r>
          </a:p>
          <a:p>
            <a:pPr algn="l">
              <a:lnSpc>
                <a:spcPts val="3482"/>
              </a:lnSpc>
              <a:spcBef>
                <a:spcPct val="0"/>
              </a:spcBef>
            </a:pPr>
            <a:r>
              <a:rPr lang="en-US" sz="24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Rodent proofing</a:t>
            </a:r>
          </a:p>
          <a:p>
            <a:pPr algn="l">
              <a:lnSpc>
                <a:spcPts val="3482"/>
              </a:lnSpc>
              <a:spcBef>
                <a:spcPct val="0"/>
              </a:spcBef>
            </a:pPr>
            <a:r>
              <a:rPr lang="en-US" sz="24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Utility penetration sealing</a:t>
            </a:r>
          </a:p>
          <a:p>
            <a:pPr algn="l">
              <a:lnSpc>
                <a:spcPts val="3482"/>
              </a:lnSpc>
              <a:spcBef>
                <a:spcPct val="0"/>
              </a:spcBef>
            </a:pPr>
            <a:r>
              <a:rPr lang="en-US" sz="24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Kitchen and storage area proofing</a:t>
            </a:r>
          </a:p>
          <a:p>
            <a:pPr algn="l">
              <a:lnSpc>
                <a:spcPts val="3482"/>
              </a:lnSpc>
              <a:spcBef>
                <a:spcPct val="0"/>
              </a:spcBef>
            </a:pPr>
            <a:r>
              <a:rPr lang="en-US" sz="24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Pest harbourage elimination</a:t>
            </a:r>
          </a:p>
          <a:p>
            <a:pPr algn="l">
              <a:lnSpc>
                <a:spcPts val="3482"/>
              </a:lnSpc>
              <a:spcBef>
                <a:spcPct val="0"/>
              </a:spcBef>
            </a:pPr>
            <a:r>
              <a:rPr lang="en-US" sz="24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✔ Long-term pest prevention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643068" y="6111614"/>
            <a:ext cx="4743588" cy="410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076" lvl="1" indent="-266538" algn="l">
              <a:lnSpc>
                <a:spcPts val="3456"/>
              </a:lnSpc>
              <a:buFont typeface="Arial"/>
              <a:buChar char="•"/>
            </a:pPr>
            <a:r>
              <a:rPr lang="en-US" sz="246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Gap Sealing Solutions: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8033" y="1370925"/>
            <a:ext cx="7920818" cy="3673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b="1">
                <a:solidFill>
                  <a:srgbClr val="F4050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Do Cockroaches Come Back?</a:t>
            </a:r>
          </a:p>
          <a:p>
            <a:pPr marL="603761" lvl="1" indent="-301880" algn="l">
              <a:lnSpc>
                <a:spcPts val="3915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They hide inside small cracks</a:t>
            </a:r>
          </a:p>
          <a:p>
            <a:pPr marL="603761" lvl="1" indent="-301880" algn="l">
              <a:lnSpc>
                <a:spcPts val="3915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Tile gaps &amp; cabinet joints </a:t>
            </a:r>
          </a:p>
          <a:p>
            <a:pPr marL="603761" lvl="1" indent="-301880" algn="l">
              <a:lnSpc>
                <a:spcPts val="3915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Sink edges &amp; wall corners</a:t>
            </a:r>
          </a:p>
          <a:p>
            <a:pPr marL="603761" lvl="1" indent="-301880" algn="l">
              <a:lnSpc>
                <a:spcPts val="3915"/>
              </a:lnSpc>
              <a:buFont typeface="Arial"/>
              <a:buChar char="•"/>
            </a:pPr>
            <a:r>
              <a:rPr lang="en-US" sz="27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Deep, unreachable spaces </a:t>
            </a:r>
          </a:p>
          <a:p>
            <a:pPr algn="l">
              <a:lnSpc>
                <a:spcPts val="4231"/>
              </a:lnSpc>
            </a:pPr>
            <a:r>
              <a:rPr lang="en-US" sz="302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Spray kills what you see… But not what hides inside.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229925" y="513304"/>
          <a:ext cx="11487150" cy="725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3779500" imgH="9550400" progId="Excel.Sheet.12">
                  <p:embed/>
                </p:oleObj>
              </mc:Choice>
              <mc:Fallback>
                <p:oleObj name="Worksheet" r:id="rId2" imgW="13779500" imgH="9550400" progId="Excel.Sheet.12">
                  <p:embed/>
                  <p:pic>
                    <p:nvPicPr>
                      <p:cNvPr id="2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9925" y="513304"/>
                        <a:ext cx="11487150" cy="7258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6995119" y="-57150"/>
            <a:ext cx="3576489" cy="570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2"/>
              </a:lnSpc>
            </a:pPr>
            <a:r>
              <a:rPr lang="en-US" sz="341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PRODUCTS: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208509" y="396764"/>
          <a:ext cx="11487150" cy="6472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3779500" imgH="8763000" progId="Excel.Sheet.12">
                  <p:embed/>
                </p:oleObj>
              </mc:Choice>
              <mc:Fallback>
                <p:oleObj name="Worksheet" r:id="rId2" imgW="13779500" imgH="8763000" progId="Excel.Sheet.12">
                  <p:embed/>
                  <p:pic>
                    <p:nvPicPr>
                      <p:cNvPr id="2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8509" y="396764"/>
                        <a:ext cx="11487150" cy="6472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9262" y="1233426"/>
            <a:ext cx="2557482" cy="925985"/>
          </a:xfrm>
          <a:custGeom>
            <a:avLst/>
            <a:gdLst/>
            <a:ahLst/>
            <a:cxnLst/>
            <a:rect l="l" t="t" r="r" b="b"/>
            <a:pathLst>
              <a:path w="2557482" h="925985">
                <a:moveTo>
                  <a:pt x="0" y="0"/>
                </a:moveTo>
                <a:lnTo>
                  <a:pt x="2557482" y="0"/>
                </a:lnTo>
                <a:lnTo>
                  <a:pt x="2557482" y="925985"/>
                </a:lnTo>
                <a:lnTo>
                  <a:pt x="0" y="9259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18780" y="2911392"/>
            <a:ext cx="4031045" cy="2685828"/>
          </a:xfrm>
          <a:custGeom>
            <a:avLst/>
            <a:gdLst/>
            <a:ahLst/>
            <a:cxnLst/>
            <a:rect l="l" t="t" r="r" b="b"/>
            <a:pathLst>
              <a:path w="4031045" h="2685828">
                <a:moveTo>
                  <a:pt x="0" y="0"/>
                </a:moveTo>
                <a:lnTo>
                  <a:pt x="4031045" y="0"/>
                </a:lnTo>
                <a:lnTo>
                  <a:pt x="4031045" y="2685828"/>
                </a:lnTo>
                <a:lnTo>
                  <a:pt x="0" y="2685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89515" y="6198797"/>
            <a:ext cx="5412123" cy="2706062"/>
          </a:xfrm>
          <a:custGeom>
            <a:avLst/>
            <a:gdLst/>
            <a:ahLst/>
            <a:cxnLst/>
            <a:rect l="l" t="t" r="r" b="b"/>
            <a:pathLst>
              <a:path w="5412123" h="2706062">
                <a:moveTo>
                  <a:pt x="0" y="0"/>
                </a:moveTo>
                <a:lnTo>
                  <a:pt x="5412123" y="0"/>
                </a:lnTo>
                <a:lnTo>
                  <a:pt x="5412123" y="2706061"/>
                </a:lnTo>
                <a:lnTo>
                  <a:pt x="0" y="27060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33025" y="2562692"/>
            <a:ext cx="2557520" cy="673480"/>
          </a:xfrm>
          <a:custGeom>
            <a:avLst/>
            <a:gdLst/>
            <a:ahLst/>
            <a:cxnLst/>
            <a:rect l="l" t="t" r="r" b="b"/>
            <a:pathLst>
              <a:path w="2557520" h="673480">
                <a:moveTo>
                  <a:pt x="0" y="0"/>
                </a:moveTo>
                <a:lnTo>
                  <a:pt x="2557520" y="0"/>
                </a:lnTo>
                <a:lnTo>
                  <a:pt x="2557520" y="673481"/>
                </a:lnTo>
                <a:lnTo>
                  <a:pt x="0" y="6734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85213" y="7949269"/>
            <a:ext cx="2406755" cy="2406755"/>
          </a:xfrm>
          <a:custGeom>
            <a:avLst/>
            <a:gdLst/>
            <a:ahLst/>
            <a:cxnLst/>
            <a:rect l="l" t="t" r="r" b="b"/>
            <a:pathLst>
              <a:path w="2406755" h="2406755">
                <a:moveTo>
                  <a:pt x="0" y="0"/>
                </a:moveTo>
                <a:lnTo>
                  <a:pt x="2406755" y="0"/>
                </a:lnTo>
                <a:lnTo>
                  <a:pt x="2406755" y="2406755"/>
                </a:lnTo>
                <a:lnTo>
                  <a:pt x="0" y="24067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891968" y="8416796"/>
            <a:ext cx="3270448" cy="1471702"/>
          </a:xfrm>
          <a:custGeom>
            <a:avLst/>
            <a:gdLst/>
            <a:ahLst/>
            <a:cxnLst/>
            <a:rect l="l" t="t" r="r" b="b"/>
            <a:pathLst>
              <a:path w="3270448" h="1471702">
                <a:moveTo>
                  <a:pt x="0" y="0"/>
                </a:moveTo>
                <a:lnTo>
                  <a:pt x="3270448" y="0"/>
                </a:lnTo>
                <a:lnTo>
                  <a:pt x="3270448" y="1471702"/>
                </a:lnTo>
                <a:lnTo>
                  <a:pt x="0" y="14717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726017" y="5143500"/>
            <a:ext cx="1684221" cy="2157899"/>
          </a:xfrm>
          <a:custGeom>
            <a:avLst/>
            <a:gdLst/>
            <a:ahLst/>
            <a:cxnLst/>
            <a:rect l="l" t="t" r="r" b="b"/>
            <a:pathLst>
              <a:path w="1684221" h="2157899">
                <a:moveTo>
                  <a:pt x="0" y="0"/>
                </a:moveTo>
                <a:lnTo>
                  <a:pt x="1684221" y="0"/>
                </a:lnTo>
                <a:lnTo>
                  <a:pt x="1684221" y="2157899"/>
                </a:lnTo>
                <a:lnTo>
                  <a:pt x="0" y="215789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4155" r="-64155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280777" y="1254503"/>
            <a:ext cx="1741831" cy="2214192"/>
          </a:xfrm>
          <a:custGeom>
            <a:avLst/>
            <a:gdLst/>
            <a:ahLst/>
            <a:cxnLst/>
            <a:rect l="l" t="t" r="r" b="b"/>
            <a:pathLst>
              <a:path w="1741831" h="2214192">
                <a:moveTo>
                  <a:pt x="0" y="0"/>
                </a:moveTo>
                <a:lnTo>
                  <a:pt x="1741831" y="0"/>
                </a:lnTo>
                <a:lnTo>
                  <a:pt x="1741831" y="2214192"/>
                </a:lnTo>
                <a:lnTo>
                  <a:pt x="0" y="221419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19262" y="5369856"/>
            <a:ext cx="2029271" cy="1181632"/>
          </a:xfrm>
          <a:custGeom>
            <a:avLst/>
            <a:gdLst/>
            <a:ahLst/>
            <a:cxnLst/>
            <a:rect l="l" t="t" r="r" b="b"/>
            <a:pathLst>
              <a:path w="2029271" h="1181632">
                <a:moveTo>
                  <a:pt x="0" y="0"/>
                </a:moveTo>
                <a:lnTo>
                  <a:pt x="2029272" y="0"/>
                </a:lnTo>
                <a:lnTo>
                  <a:pt x="2029272" y="1181632"/>
                </a:lnTo>
                <a:lnTo>
                  <a:pt x="0" y="11816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3106" t="-23817" r="-35343" b="-41488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791238" y="5143500"/>
            <a:ext cx="2218799" cy="1850181"/>
          </a:xfrm>
          <a:custGeom>
            <a:avLst/>
            <a:gdLst/>
            <a:ahLst/>
            <a:cxnLst/>
            <a:rect l="l" t="t" r="r" b="b"/>
            <a:pathLst>
              <a:path w="2218799" h="1850181">
                <a:moveTo>
                  <a:pt x="0" y="0"/>
                </a:moveTo>
                <a:lnTo>
                  <a:pt x="2218799" y="0"/>
                </a:lnTo>
                <a:lnTo>
                  <a:pt x="2218799" y="1850181"/>
                </a:lnTo>
                <a:lnTo>
                  <a:pt x="0" y="185018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61110" t="-19239" r="-61499" b="-44091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556927" y="1212028"/>
            <a:ext cx="2052183" cy="2512247"/>
          </a:xfrm>
          <a:custGeom>
            <a:avLst/>
            <a:gdLst/>
            <a:ahLst/>
            <a:cxnLst/>
            <a:rect l="l" t="t" r="r" b="b"/>
            <a:pathLst>
              <a:path w="2052183" h="2512247">
                <a:moveTo>
                  <a:pt x="0" y="0"/>
                </a:moveTo>
                <a:lnTo>
                  <a:pt x="2052184" y="0"/>
                </a:lnTo>
                <a:lnTo>
                  <a:pt x="2052184" y="2512247"/>
                </a:lnTo>
                <a:lnTo>
                  <a:pt x="0" y="25122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86667" t="-14126" r="-85378" b="-10876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490650" y="6891383"/>
            <a:ext cx="5465256" cy="1077111"/>
          </a:xfrm>
          <a:custGeom>
            <a:avLst/>
            <a:gdLst/>
            <a:ahLst/>
            <a:cxnLst/>
            <a:rect l="l" t="t" r="r" b="b"/>
            <a:pathLst>
              <a:path w="5465256" h="1077111">
                <a:moveTo>
                  <a:pt x="0" y="0"/>
                </a:moveTo>
                <a:lnTo>
                  <a:pt x="5465255" y="0"/>
                </a:lnTo>
                <a:lnTo>
                  <a:pt x="5465255" y="1077110"/>
                </a:lnTo>
                <a:lnTo>
                  <a:pt x="0" y="107711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473555" y="2504940"/>
            <a:ext cx="4200035" cy="1749365"/>
          </a:xfrm>
          <a:custGeom>
            <a:avLst/>
            <a:gdLst/>
            <a:ahLst/>
            <a:cxnLst/>
            <a:rect l="l" t="t" r="r" b="b"/>
            <a:pathLst>
              <a:path w="4200035" h="1749365">
                <a:moveTo>
                  <a:pt x="0" y="0"/>
                </a:moveTo>
                <a:lnTo>
                  <a:pt x="4200036" y="0"/>
                </a:lnTo>
                <a:lnTo>
                  <a:pt x="4200036" y="1749366"/>
                </a:lnTo>
                <a:lnTo>
                  <a:pt x="0" y="17493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74305" b="-65783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787860" y="2712119"/>
            <a:ext cx="3536292" cy="1542187"/>
          </a:xfrm>
          <a:custGeom>
            <a:avLst/>
            <a:gdLst/>
            <a:ahLst/>
            <a:cxnLst/>
            <a:rect l="l" t="t" r="r" b="b"/>
            <a:pathLst>
              <a:path w="3536292" h="1542187">
                <a:moveTo>
                  <a:pt x="0" y="0"/>
                </a:moveTo>
                <a:lnTo>
                  <a:pt x="3536292" y="0"/>
                </a:lnTo>
                <a:lnTo>
                  <a:pt x="3536292" y="1542187"/>
                </a:lnTo>
                <a:lnTo>
                  <a:pt x="0" y="154218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64103" t="-88536" r="-48495" b="-85680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4527192" y="6949757"/>
            <a:ext cx="3405632" cy="1911178"/>
          </a:xfrm>
          <a:custGeom>
            <a:avLst/>
            <a:gdLst/>
            <a:ahLst/>
            <a:cxnLst/>
            <a:rect l="l" t="t" r="r" b="b"/>
            <a:pathLst>
              <a:path w="3405632" h="1911178">
                <a:moveTo>
                  <a:pt x="0" y="0"/>
                </a:moveTo>
                <a:lnTo>
                  <a:pt x="3405632" y="0"/>
                </a:lnTo>
                <a:lnTo>
                  <a:pt x="3405632" y="1911177"/>
                </a:lnTo>
                <a:lnTo>
                  <a:pt x="0" y="191117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512265" y="3317494"/>
            <a:ext cx="5300301" cy="1873623"/>
          </a:xfrm>
          <a:custGeom>
            <a:avLst/>
            <a:gdLst/>
            <a:ahLst/>
            <a:cxnLst/>
            <a:rect l="l" t="t" r="r" b="b"/>
            <a:pathLst>
              <a:path w="5300301" h="1873623">
                <a:moveTo>
                  <a:pt x="0" y="0"/>
                </a:moveTo>
                <a:lnTo>
                  <a:pt x="5300302" y="0"/>
                </a:lnTo>
                <a:lnTo>
                  <a:pt x="5300302" y="1873623"/>
                </a:lnTo>
                <a:lnTo>
                  <a:pt x="0" y="187362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91078" b="-91812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230008" y="8387267"/>
            <a:ext cx="3500451" cy="1968758"/>
          </a:xfrm>
          <a:custGeom>
            <a:avLst/>
            <a:gdLst/>
            <a:ahLst/>
            <a:cxnLst/>
            <a:rect l="l" t="t" r="r" b="b"/>
            <a:pathLst>
              <a:path w="3500451" h="1968758">
                <a:moveTo>
                  <a:pt x="0" y="0"/>
                </a:moveTo>
                <a:lnTo>
                  <a:pt x="3500451" y="0"/>
                </a:lnTo>
                <a:lnTo>
                  <a:pt x="3500451" y="1968757"/>
                </a:lnTo>
                <a:lnTo>
                  <a:pt x="0" y="196875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4760021" y="321819"/>
            <a:ext cx="2669577" cy="1865367"/>
          </a:xfrm>
          <a:custGeom>
            <a:avLst/>
            <a:gdLst/>
            <a:ahLst/>
            <a:cxnLst/>
            <a:rect l="l" t="t" r="r" b="b"/>
            <a:pathLst>
              <a:path w="2669577" h="1865367">
                <a:moveTo>
                  <a:pt x="0" y="0"/>
                </a:moveTo>
                <a:lnTo>
                  <a:pt x="2669577" y="0"/>
                </a:lnTo>
                <a:lnTo>
                  <a:pt x="2669577" y="1865367"/>
                </a:lnTo>
                <a:lnTo>
                  <a:pt x="0" y="186536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7980234" y="4963086"/>
            <a:ext cx="3499445" cy="1219517"/>
          </a:xfrm>
          <a:custGeom>
            <a:avLst/>
            <a:gdLst/>
            <a:ahLst/>
            <a:cxnLst/>
            <a:rect l="l" t="t" r="r" b="b"/>
            <a:pathLst>
              <a:path w="3499445" h="1219517">
                <a:moveTo>
                  <a:pt x="0" y="0"/>
                </a:moveTo>
                <a:lnTo>
                  <a:pt x="3499444" y="0"/>
                </a:lnTo>
                <a:lnTo>
                  <a:pt x="3499444" y="1219516"/>
                </a:lnTo>
                <a:lnTo>
                  <a:pt x="0" y="121951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-13985" t="-111083" r="-11093" b="-147837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5220575" y="4540763"/>
            <a:ext cx="2784328" cy="1309284"/>
          </a:xfrm>
          <a:custGeom>
            <a:avLst/>
            <a:gdLst/>
            <a:ahLst/>
            <a:cxnLst/>
            <a:rect l="l" t="t" r="r" b="b"/>
            <a:pathLst>
              <a:path w="2784328" h="1309284">
                <a:moveTo>
                  <a:pt x="0" y="0"/>
                </a:moveTo>
                <a:lnTo>
                  <a:pt x="2784329" y="0"/>
                </a:lnTo>
                <a:lnTo>
                  <a:pt x="2784329" y="1309283"/>
                </a:lnTo>
                <a:lnTo>
                  <a:pt x="0" y="130928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t="-11883" b="-7706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1937653" y="4540763"/>
            <a:ext cx="3178374" cy="2010725"/>
          </a:xfrm>
          <a:custGeom>
            <a:avLst/>
            <a:gdLst/>
            <a:ahLst/>
            <a:cxnLst/>
            <a:rect l="l" t="t" r="r" b="b"/>
            <a:pathLst>
              <a:path w="3178374" h="2010725">
                <a:moveTo>
                  <a:pt x="0" y="0"/>
                </a:moveTo>
                <a:lnTo>
                  <a:pt x="3178373" y="0"/>
                </a:lnTo>
                <a:lnTo>
                  <a:pt x="3178373" y="2010725"/>
                </a:lnTo>
                <a:lnTo>
                  <a:pt x="0" y="20107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16681" t="-45036" r="-12733" b="-45947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7856106" y="490771"/>
            <a:ext cx="2833772" cy="1864386"/>
          </a:xfrm>
          <a:custGeom>
            <a:avLst/>
            <a:gdLst/>
            <a:ahLst/>
            <a:cxnLst/>
            <a:rect l="l" t="t" r="r" b="b"/>
            <a:pathLst>
              <a:path w="2833772" h="1864386">
                <a:moveTo>
                  <a:pt x="0" y="0"/>
                </a:moveTo>
                <a:lnTo>
                  <a:pt x="2833772" y="0"/>
                </a:lnTo>
                <a:lnTo>
                  <a:pt x="2833772" y="1864385"/>
                </a:lnTo>
                <a:lnTo>
                  <a:pt x="0" y="186438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0976283" y="729943"/>
            <a:ext cx="3081919" cy="693020"/>
          </a:xfrm>
          <a:custGeom>
            <a:avLst/>
            <a:gdLst/>
            <a:ahLst/>
            <a:cxnLst/>
            <a:rect l="l" t="t" r="r" b="b"/>
            <a:pathLst>
              <a:path w="3081919" h="693020">
                <a:moveTo>
                  <a:pt x="0" y="0"/>
                </a:moveTo>
                <a:lnTo>
                  <a:pt x="3081918" y="0"/>
                </a:lnTo>
                <a:lnTo>
                  <a:pt x="3081918" y="693020"/>
                </a:lnTo>
                <a:lnTo>
                  <a:pt x="0" y="693020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24477" t="-123540" r="-25494" b="-125490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0482961" y="8172046"/>
            <a:ext cx="3575241" cy="2052361"/>
          </a:xfrm>
          <a:custGeom>
            <a:avLst/>
            <a:gdLst/>
            <a:ahLst/>
            <a:cxnLst/>
            <a:rect l="l" t="t" r="r" b="b"/>
            <a:pathLst>
              <a:path w="3575241" h="2052361">
                <a:moveTo>
                  <a:pt x="0" y="0"/>
                </a:moveTo>
                <a:lnTo>
                  <a:pt x="3575240" y="0"/>
                </a:lnTo>
                <a:lnTo>
                  <a:pt x="3575240" y="2052361"/>
                </a:lnTo>
                <a:lnTo>
                  <a:pt x="0" y="20523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t="-40155" b="-34045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5116026" y="5597220"/>
            <a:ext cx="2993427" cy="2993427"/>
          </a:xfrm>
          <a:custGeom>
            <a:avLst/>
            <a:gdLst/>
            <a:ahLst/>
            <a:cxnLst/>
            <a:rect l="l" t="t" r="r" b="b"/>
            <a:pathLst>
              <a:path w="2993427" h="2993427">
                <a:moveTo>
                  <a:pt x="0" y="0"/>
                </a:moveTo>
                <a:lnTo>
                  <a:pt x="2993427" y="0"/>
                </a:lnTo>
                <a:lnTo>
                  <a:pt x="2993427" y="2993426"/>
                </a:lnTo>
                <a:lnTo>
                  <a:pt x="0" y="2993426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5061914" y="8172046"/>
            <a:ext cx="2988182" cy="1716452"/>
          </a:xfrm>
          <a:custGeom>
            <a:avLst/>
            <a:gdLst/>
            <a:ahLst/>
            <a:cxnLst/>
            <a:rect l="l" t="t" r="r" b="b"/>
            <a:pathLst>
              <a:path w="2988182" h="1716452">
                <a:moveTo>
                  <a:pt x="0" y="0"/>
                </a:moveTo>
                <a:lnTo>
                  <a:pt x="2988183" y="0"/>
                </a:lnTo>
                <a:lnTo>
                  <a:pt x="2988183" y="1716452"/>
                </a:lnTo>
                <a:lnTo>
                  <a:pt x="0" y="1716452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-8552" t="-46723" r="-9469" b="-45043"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207365" y="245619"/>
            <a:ext cx="6721525" cy="67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72"/>
              </a:lnSpc>
              <a:spcBef>
                <a:spcPct val="0"/>
              </a:spcBef>
            </a:pPr>
            <a:r>
              <a:rPr lang="en-US" sz="3980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Trusted By Leading Brands: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4607" y="0"/>
            <a:ext cx="6364346" cy="10529576"/>
          </a:xfrm>
          <a:custGeom>
            <a:avLst/>
            <a:gdLst/>
            <a:ahLst/>
            <a:cxnLst/>
            <a:rect l="l" t="t" r="r" b="b"/>
            <a:pathLst>
              <a:path w="6364346" h="10529576">
                <a:moveTo>
                  <a:pt x="0" y="0"/>
                </a:moveTo>
                <a:lnTo>
                  <a:pt x="6364346" y="0"/>
                </a:lnTo>
                <a:lnTo>
                  <a:pt x="6364346" y="10529576"/>
                </a:lnTo>
                <a:lnTo>
                  <a:pt x="0" y="105295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780" r="-62999" b="-5215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684528" y="6748170"/>
            <a:ext cx="9483183" cy="375080"/>
            <a:chOff x="0" y="0"/>
            <a:chExt cx="6987032" cy="2763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87032" cy="276352"/>
            </a:xfrm>
            <a:custGeom>
              <a:avLst/>
              <a:gdLst/>
              <a:ahLst/>
              <a:cxnLst/>
              <a:rect l="l" t="t" r="r" b="b"/>
              <a:pathLst>
                <a:path w="6987032" h="276352">
                  <a:moveTo>
                    <a:pt x="0" y="0"/>
                  </a:moveTo>
                  <a:lnTo>
                    <a:pt x="6987032" y="0"/>
                  </a:lnTo>
                  <a:lnTo>
                    <a:pt x="6987032" y="276352"/>
                  </a:lnTo>
                  <a:lnTo>
                    <a:pt x="0" y="276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3" t="-5886" b="-4779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66369" y="182878"/>
            <a:ext cx="13785812" cy="1146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0"/>
              </a:lnSpc>
            </a:pPr>
            <a:r>
              <a:rPr lang="en-US" sz="330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</a:t>
            </a:r>
          </a:p>
          <a:p>
            <a:pPr algn="l">
              <a:lnSpc>
                <a:spcPts val="4630"/>
              </a:lnSpc>
            </a:pPr>
            <a:r>
              <a:rPr lang="en-US" sz="330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SERVICES:</a:t>
            </a:r>
          </a:p>
        </p:txBody>
      </p:sp>
      <p:sp>
        <p:nvSpPr>
          <p:cNvPr id="6" name="Freeform 6"/>
          <p:cNvSpPr/>
          <p:nvPr/>
        </p:nvSpPr>
        <p:spPr>
          <a:xfrm>
            <a:off x="10086529" y="565689"/>
            <a:ext cx="7480149" cy="4577811"/>
          </a:xfrm>
          <a:custGeom>
            <a:avLst/>
            <a:gdLst/>
            <a:ahLst/>
            <a:cxnLst/>
            <a:rect l="l" t="t" r="r" b="b"/>
            <a:pathLst>
              <a:path w="7480149" h="4577811">
                <a:moveTo>
                  <a:pt x="0" y="0"/>
                </a:moveTo>
                <a:lnTo>
                  <a:pt x="7480149" y="0"/>
                </a:lnTo>
                <a:lnTo>
                  <a:pt x="7480149" y="4577811"/>
                </a:lnTo>
                <a:lnTo>
                  <a:pt x="0" y="4577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-8749" t="-12916" r="-31596" b="-14822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838314" y="1329705"/>
            <a:ext cx="3318326" cy="3662585"/>
          </a:xfrm>
          <a:custGeom>
            <a:avLst/>
            <a:gdLst/>
            <a:ahLst/>
            <a:cxnLst/>
            <a:rect l="l" t="t" r="r" b="b"/>
            <a:pathLst>
              <a:path w="3318326" h="3662585">
                <a:moveTo>
                  <a:pt x="0" y="0"/>
                </a:moveTo>
                <a:lnTo>
                  <a:pt x="3318327" y="0"/>
                </a:lnTo>
                <a:lnTo>
                  <a:pt x="3318327" y="3662586"/>
                </a:lnTo>
                <a:lnTo>
                  <a:pt x="0" y="36625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0000"/>
            </a:blip>
            <a:stretch>
              <a:fillRect l="-35545" t="-62330" r="-29409" b="-6685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684528" y="5774167"/>
            <a:ext cx="3625900" cy="679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7"/>
              </a:lnSpc>
            </a:pPr>
            <a:r>
              <a:rPr lang="en-US" sz="3626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CONTACT DETAILS: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53603" y="6711175"/>
            <a:ext cx="63571" cy="40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1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77601" y="6711175"/>
            <a:ext cx="63571" cy="40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0"/>
              </a:lnSpc>
            </a:pPr>
            <a:r>
              <a:rPr lang="en-US" sz="21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84528" y="6567876"/>
            <a:ext cx="12284906" cy="546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20"/>
              </a:lnSpc>
            </a:pPr>
            <a:r>
              <a:rPr lang="en-US" sz="28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S-5 Khira Industrial Estate,B.M.BhargavRoad,Santacruz(W), Mumbai - 400054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84159" y="7322255"/>
            <a:ext cx="6582519" cy="2310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0"/>
              </a:lnSpc>
            </a:pPr>
            <a:r>
              <a:rPr lang="en-US" sz="42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Tel: 61386600 Fax: 61386601 </a:t>
            </a:r>
          </a:p>
          <a:p>
            <a:pPr algn="l">
              <a:lnSpc>
                <a:spcPts val="5980"/>
              </a:lnSpc>
            </a:pPr>
            <a:r>
              <a:rPr lang="en-US" sz="42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Email:</a:t>
            </a:r>
            <a:r>
              <a:rPr lang="en-US" sz="42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  <a:hlinkClick r:id="rId6" tooltip="mailto:epcorn@yahoo.in"/>
              </a:rPr>
              <a:t> </a:t>
            </a:r>
            <a:r>
              <a:rPr lang="en-US" sz="4271">
                <a:solidFill>
                  <a:srgbClr val="0563C1"/>
                </a:solidFill>
                <a:latin typeface="Calibri (MS)"/>
                <a:ea typeface="Calibri (MS)"/>
                <a:cs typeface="Calibri (MS)"/>
                <a:sym typeface="Calibri (MS)"/>
                <a:hlinkClick r:id="rId6" tooltip="mailto:epcorn@yahoo.in"/>
              </a:rPr>
              <a:t>epcorn@yahoo.in</a:t>
            </a:r>
          </a:p>
          <a:p>
            <a:pPr algn="l">
              <a:lnSpc>
                <a:spcPts val="5980"/>
              </a:lnSpc>
            </a:pPr>
            <a:r>
              <a:rPr lang="en-US" sz="427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Visit: www.epcorn.com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764</Words>
  <Application>Microsoft Office PowerPoint</Application>
  <PresentationFormat>Custom</PresentationFormat>
  <Paragraphs>96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Canva Sans</vt:lpstr>
      <vt:lpstr>Canva Sans Bold</vt:lpstr>
      <vt:lpstr>Arial</vt:lpstr>
      <vt:lpstr>Calibri (MS) Bold</vt:lpstr>
      <vt:lpstr>Calibri (MS)</vt:lpstr>
      <vt:lpstr>Calibri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Fairfeild by Marriot Audit Report.RQAE</dc:title>
  <cp:lastModifiedBy>mayur@epcorn.com</cp:lastModifiedBy>
  <cp:revision>1</cp:revision>
  <dcterms:created xsi:type="dcterms:W3CDTF">2006-08-16T00:00:00Z</dcterms:created>
  <dcterms:modified xsi:type="dcterms:W3CDTF">2026-08-26T11:12:48Z</dcterms:modified>
  <dc:identifier>DAHSKkGuSqM</dc:identifier>
</cp:coreProperties>
</file>